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84" r:id="rId5"/>
    <p:sldId id="297" r:id="rId6"/>
    <p:sldId id="299" r:id="rId7"/>
    <p:sldId id="300" r:id="rId8"/>
    <p:sldId id="298" r:id="rId9"/>
    <p:sldId id="301" r:id="rId10"/>
    <p:sldId id="303" r:id="rId11"/>
    <p:sldId id="304" r:id="rId12"/>
    <p:sldId id="305" r:id="rId13"/>
    <p:sldId id="306" r:id="rId14"/>
    <p:sldId id="307" r:id="rId15"/>
    <p:sldId id="309" r:id="rId16"/>
    <p:sldId id="308" r:id="rId17"/>
    <p:sldId id="302" r:id="rId18"/>
    <p:sldId id="310" r:id="rId19"/>
    <p:sldId id="311" r:id="rId20"/>
    <p:sldId id="312" r:id="rId21"/>
    <p:sldId id="261" r:id="rId22"/>
    <p:sldId id="2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97EFD3"/>
    <a:srgbClr val="F15574"/>
    <a:srgbClr val="F4EBE8"/>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34778E-3C76-4C1F-BDFC-2709139BD9D7}" v="13" dt="2026-01-23T07:57:10.5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99" autoAdjust="0"/>
  </p:normalViewPr>
  <p:slideViewPr>
    <p:cSldViewPr snapToGrid="0" snapToObjects="1" showGuides="1">
      <p:cViewPr varScale="1">
        <p:scale>
          <a:sx n="76" d="100"/>
          <a:sy n="76" d="100"/>
        </p:scale>
        <p:origin x="62" y="106"/>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eya Chintha" userId="5b54ffc2d2b6d493" providerId="LiveId" clId="{769318DC-13DD-4165-899B-B5DD70E2A45A}"/>
    <pc:docChg chg="undo custSel addSld delSld modSld">
      <pc:chgData name="Karthikeya Chintha" userId="5b54ffc2d2b6d493" providerId="LiveId" clId="{769318DC-13DD-4165-899B-B5DD70E2A45A}" dt="2026-01-23T07:57:46.613" v="297" actId="26606"/>
      <pc:docMkLst>
        <pc:docMk/>
      </pc:docMkLst>
      <pc:sldChg chg="addSp delSp modSp mod">
        <pc:chgData name="Karthikeya Chintha" userId="5b54ffc2d2b6d493" providerId="LiveId" clId="{769318DC-13DD-4165-899B-B5DD70E2A45A}" dt="2026-01-23T07:57:34.952" v="296" actId="14100"/>
        <pc:sldMkLst>
          <pc:docMk/>
          <pc:sldMk cId="2831084956" sldId="261"/>
        </pc:sldMkLst>
        <pc:spChg chg="add del mod">
          <ac:chgData name="Karthikeya Chintha" userId="5b54ffc2d2b6d493" providerId="LiveId" clId="{769318DC-13DD-4165-899B-B5DD70E2A45A}" dt="2026-01-23T07:56:55.379" v="286"/>
          <ac:spMkLst>
            <pc:docMk/>
            <pc:sldMk cId="2831084956" sldId="261"/>
            <ac:spMk id="5" creationId="{4C6AF53B-B683-C752-969D-693F74F0E843}"/>
          </ac:spMkLst>
        </pc:spChg>
        <pc:spChg chg="add mod">
          <ac:chgData name="Karthikeya Chintha" userId="5b54ffc2d2b6d493" providerId="LiveId" clId="{769318DC-13DD-4165-899B-B5DD70E2A45A}" dt="2026-01-23T07:56:46.745" v="285" actId="1076"/>
          <ac:spMkLst>
            <pc:docMk/>
            <pc:sldMk cId="2831084956" sldId="261"/>
            <ac:spMk id="6" creationId="{2CFFE4A1-F3C0-8F52-FA4D-73EA0411A556}"/>
          </ac:spMkLst>
        </pc:spChg>
        <pc:spChg chg="add del mod">
          <ac:chgData name="Karthikeya Chintha" userId="5b54ffc2d2b6d493" providerId="LiveId" clId="{769318DC-13DD-4165-899B-B5DD70E2A45A}" dt="2026-01-23T07:57:10.578" v="290" actId="478"/>
          <ac:spMkLst>
            <pc:docMk/>
            <pc:sldMk cId="2831084956" sldId="261"/>
            <ac:spMk id="7" creationId="{EDCDFD6A-B539-5F37-6CE3-79FF1F9C852D}"/>
          </ac:spMkLst>
        </pc:spChg>
        <pc:spChg chg="add">
          <ac:chgData name="Karthikeya Chintha" userId="5b54ffc2d2b6d493" providerId="LiveId" clId="{769318DC-13DD-4165-899B-B5DD70E2A45A}" dt="2026-01-23T07:56:57.455" v="287"/>
          <ac:spMkLst>
            <pc:docMk/>
            <pc:sldMk cId="2831084956" sldId="261"/>
            <ac:spMk id="8" creationId="{400B1AAB-F1D1-647D-95F4-2FC4015C8AA0}"/>
          </ac:spMkLst>
        </pc:spChg>
        <pc:picChg chg="add mod">
          <ac:chgData name="Karthikeya Chintha" userId="5b54ffc2d2b6d493" providerId="LiveId" clId="{769318DC-13DD-4165-899B-B5DD70E2A45A}" dt="2026-01-23T07:57:34.952" v="296" actId="14100"/>
          <ac:picMkLst>
            <pc:docMk/>
            <pc:sldMk cId="2831084956" sldId="261"/>
            <ac:picMk id="9" creationId="{B345C5E5-5CE2-D550-509A-010D648BDE8F}"/>
          </ac:picMkLst>
        </pc:picChg>
        <pc:picChg chg="del">
          <ac:chgData name="Karthikeya Chintha" userId="5b54ffc2d2b6d493" providerId="LiveId" clId="{769318DC-13DD-4165-899B-B5DD70E2A45A}" dt="2026-01-23T07:55:47.595" v="283" actId="478"/>
          <ac:picMkLst>
            <pc:docMk/>
            <pc:sldMk cId="2831084956" sldId="261"/>
            <ac:picMk id="29" creationId="{DA7DD19C-223E-EA86-7FF6-A7240A615AEC}"/>
          </ac:picMkLst>
        </pc:picChg>
      </pc:sldChg>
      <pc:sldChg chg="modSp mod">
        <pc:chgData name="Karthikeya Chintha" userId="5b54ffc2d2b6d493" providerId="LiveId" clId="{769318DC-13DD-4165-899B-B5DD70E2A45A}" dt="2026-01-20T20:27:45.801" v="281" actId="1076"/>
        <pc:sldMkLst>
          <pc:docMk/>
          <pc:sldMk cId="4097023305" sldId="284"/>
        </pc:sldMkLst>
        <pc:spChg chg="mod">
          <ac:chgData name="Karthikeya Chintha" userId="5b54ffc2d2b6d493" providerId="LiveId" clId="{769318DC-13DD-4165-899B-B5DD70E2A45A}" dt="2026-01-20T20:27:45.801" v="281" actId="1076"/>
          <ac:spMkLst>
            <pc:docMk/>
            <pc:sldMk cId="4097023305" sldId="284"/>
            <ac:spMk id="23" creationId="{A4F37AB6-4681-D744-2F89-2949D08676DC}"/>
          </ac:spMkLst>
        </pc:spChg>
      </pc:sldChg>
      <pc:sldChg chg="modSp mod">
        <pc:chgData name="Karthikeya Chintha" userId="5b54ffc2d2b6d493" providerId="LiveId" clId="{769318DC-13DD-4165-899B-B5DD70E2A45A}" dt="2026-01-23T07:57:46.613" v="297" actId="26606"/>
        <pc:sldMkLst>
          <pc:docMk/>
          <pc:sldMk cId="2397583386" sldId="295"/>
        </pc:sldMkLst>
        <pc:spChg chg="mod modVis">
          <ac:chgData name="Karthikeya Chintha" userId="5b54ffc2d2b6d493" providerId="LiveId" clId="{769318DC-13DD-4165-899B-B5DD70E2A45A}" dt="2026-01-23T07:57:46.613" v="297" actId="26606"/>
          <ac:spMkLst>
            <pc:docMk/>
            <pc:sldMk cId="2397583386" sldId="295"/>
            <ac:spMk id="26" creationId="{8F93025E-1101-94E8-D710-BB84DE936071}"/>
          </ac:spMkLst>
        </pc:spChg>
        <pc:spChg chg="mod modVis">
          <ac:chgData name="Karthikeya Chintha" userId="5b54ffc2d2b6d493" providerId="LiveId" clId="{769318DC-13DD-4165-899B-B5DD70E2A45A}" dt="2026-01-23T07:57:46.613" v="297" actId="26606"/>
          <ac:spMkLst>
            <pc:docMk/>
            <pc:sldMk cId="2397583386" sldId="295"/>
            <ac:spMk id="29" creationId="{4EDE6E60-36BD-AFDC-8596-F0957024E318}"/>
          </ac:spMkLst>
        </pc:spChg>
        <pc:picChg chg="mod">
          <ac:chgData name="Karthikeya Chintha" userId="5b54ffc2d2b6d493" providerId="LiveId" clId="{769318DC-13DD-4165-899B-B5DD70E2A45A}" dt="2026-01-23T07:57:46.613" v="297" actId="26606"/>
          <ac:picMkLst>
            <pc:docMk/>
            <pc:sldMk cId="2397583386" sldId="295"/>
            <ac:picMk id="6" creationId="{65CE00B7-8425-77A9-C3C7-1E28CBE7B884}"/>
          </ac:picMkLst>
        </pc:picChg>
      </pc:sldChg>
      <pc:sldChg chg="modSp mod">
        <pc:chgData name="Karthikeya Chintha" userId="5b54ffc2d2b6d493" providerId="LiveId" clId="{769318DC-13DD-4165-899B-B5DD70E2A45A}" dt="2026-01-20T20:16:16.149" v="121" actId="20577"/>
        <pc:sldMkLst>
          <pc:docMk/>
          <pc:sldMk cId="3006971084" sldId="297"/>
        </pc:sldMkLst>
        <pc:spChg chg="mod">
          <ac:chgData name="Karthikeya Chintha" userId="5b54ffc2d2b6d493" providerId="LiveId" clId="{769318DC-13DD-4165-899B-B5DD70E2A45A}" dt="2026-01-20T20:07:51.291" v="5" actId="1076"/>
          <ac:spMkLst>
            <pc:docMk/>
            <pc:sldMk cId="3006971084" sldId="297"/>
            <ac:spMk id="2" creationId="{D2ACE46A-D297-B7B2-9A1B-BD4BBF98C370}"/>
          </ac:spMkLst>
        </pc:spChg>
        <pc:spChg chg="mod">
          <ac:chgData name="Karthikeya Chintha" userId="5b54ffc2d2b6d493" providerId="LiveId" clId="{769318DC-13DD-4165-899B-B5DD70E2A45A}" dt="2026-01-20T20:16:16.149" v="121" actId="20577"/>
          <ac:spMkLst>
            <pc:docMk/>
            <pc:sldMk cId="3006971084" sldId="297"/>
            <ac:spMk id="3" creationId="{9F0A6441-7DE6-DD2E-7405-9F0EFFC3BCF8}"/>
          </ac:spMkLst>
        </pc:spChg>
      </pc:sldChg>
      <pc:sldChg chg="modSp mod">
        <pc:chgData name="Karthikeya Chintha" userId="5b54ffc2d2b6d493" providerId="LiveId" clId="{769318DC-13DD-4165-899B-B5DD70E2A45A}" dt="2026-01-20T20:16:31.460" v="125" actId="404"/>
        <pc:sldMkLst>
          <pc:docMk/>
          <pc:sldMk cId="1777242088" sldId="298"/>
        </pc:sldMkLst>
        <pc:spChg chg="mod">
          <ac:chgData name="Karthikeya Chintha" userId="5b54ffc2d2b6d493" providerId="LiveId" clId="{769318DC-13DD-4165-899B-B5DD70E2A45A}" dt="2026-01-20T20:08:29.477" v="12" actId="1076"/>
          <ac:spMkLst>
            <pc:docMk/>
            <pc:sldMk cId="1777242088" sldId="298"/>
            <ac:spMk id="2" creationId="{DEACE3E3-CFDB-B090-B59D-A481B631C82E}"/>
          </ac:spMkLst>
        </pc:spChg>
        <pc:spChg chg="mod">
          <ac:chgData name="Karthikeya Chintha" userId="5b54ffc2d2b6d493" providerId="LiveId" clId="{769318DC-13DD-4165-899B-B5DD70E2A45A}" dt="2026-01-20T20:16:31.460" v="125" actId="404"/>
          <ac:spMkLst>
            <pc:docMk/>
            <pc:sldMk cId="1777242088" sldId="298"/>
            <ac:spMk id="4" creationId="{A611C277-8AEF-26CF-72D0-A3DE358706A1}"/>
          </ac:spMkLst>
        </pc:spChg>
      </pc:sldChg>
      <pc:sldChg chg="modSp mod">
        <pc:chgData name="Karthikeya Chintha" userId="5b54ffc2d2b6d493" providerId="LiveId" clId="{769318DC-13DD-4165-899B-B5DD70E2A45A}" dt="2026-01-20T20:16:21.908" v="123" actId="404"/>
        <pc:sldMkLst>
          <pc:docMk/>
          <pc:sldMk cId="208341284" sldId="299"/>
        </pc:sldMkLst>
        <pc:spChg chg="mod">
          <ac:chgData name="Karthikeya Chintha" userId="5b54ffc2d2b6d493" providerId="LiveId" clId="{769318DC-13DD-4165-899B-B5DD70E2A45A}" dt="2026-01-20T20:15:06.744" v="113" actId="403"/>
          <ac:spMkLst>
            <pc:docMk/>
            <pc:sldMk cId="208341284" sldId="299"/>
            <ac:spMk id="2" creationId="{0136655E-FA13-54FD-A93F-6AA55E8CA9BF}"/>
          </ac:spMkLst>
        </pc:spChg>
        <pc:spChg chg="mod">
          <ac:chgData name="Karthikeya Chintha" userId="5b54ffc2d2b6d493" providerId="LiveId" clId="{769318DC-13DD-4165-899B-B5DD70E2A45A}" dt="2026-01-20T20:16:19.724" v="122" actId="404"/>
          <ac:spMkLst>
            <pc:docMk/>
            <pc:sldMk cId="208341284" sldId="299"/>
            <ac:spMk id="3" creationId="{478B47CA-F993-C1B4-7C83-655F99750A69}"/>
          </ac:spMkLst>
        </pc:spChg>
        <pc:spChg chg="mod">
          <ac:chgData name="Karthikeya Chintha" userId="5b54ffc2d2b6d493" providerId="LiveId" clId="{769318DC-13DD-4165-899B-B5DD70E2A45A}" dt="2026-01-20T20:16:21.908" v="123" actId="404"/>
          <ac:spMkLst>
            <pc:docMk/>
            <pc:sldMk cId="208341284" sldId="299"/>
            <ac:spMk id="7" creationId="{94065295-AAD9-70B3-B096-B9E9434B6DD3}"/>
          </ac:spMkLst>
        </pc:spChg>
      </pc:sldChg>
      <pc:sldChg chg="modSp mod">
        <pc:chgData name="Karthikeya Chintha" userId="5b54ffc2d2b6d493" providerId="LiveId" clId="{769318DC-13DD-4165-899B-B5DD70E2A45A}" dt="2026-01-20T20:16:26.344" v="124" actId="404"/>
        <pc:sldMkLst>
          <pc:docMk/>
          <pc:sldMk cId="1457870506" sldId="300"/>
        </pc:sldMkLst>
        <pc:spChg chg="mod">
          <ac:chgData name="Karthikeya Chintha" userId="5b54ffc2d2b6d493" providerId="LiveId" clId="{769318DC-13DD-4165-899B-B5DD70E2A45A}" dt="2026-01-20T20:16:26.344" v="124" actId="404"/>
          <ac:spMkLst>
            <pc:docMk/>
            <pc:sldMk cId="1457870506" sldId="300"/>
            <ac:spMk id="3" creationId="{C293EF51-6922-523D-0772-32752FFF7D02}"/>
          </ac:spMkLst>
        </pc:spChg>
      </pc:sldChg>
      <pc:sldChg chg="modSp mod">
        <pc:chgData name="Karthikeya Chintha" userId="5b54ffc2d2b6d493" providerId="LiveId" clId="{769318DC-13DD-4165-899B-B5DD70E2A45A}" dt="2026-01-20T20:16:36.250" v="126" actId="404"/>
        <pc:sldMkLst>
          <pc:docMk/>
          <pc:sldMk cId="2067285378" sldId="301"/>
        </pc:sldMkLst>
        <pc:spChg chg="mod">
          <ac:chgData name="Karthikeya Chintha" userId="5b54ffc2d2b6d493" providerId="LiveId" clId="{769318DC-13DD-4165-899B-B5DD70E2A45A}" dt="2026-01-20T20:10:09.283" v="27" actId="403"/>
          <ac:spMkLst>
            <pc:docMk/>
            <pc:sldMk cId="2067285378" sldId="301"/>
            <ac:spMk id="2" creationId="{E993E1D3-3FA7-D141-3B45-4F9A679EEA08}"/>
          </ac:spMkLst>
        </pc:spChg>
        <pc:spChg chg="mod">
          <ac:chgData name="Karthikeya Chintha" userId="5b54ffc2d2b6d493" providerId="LiveId" clId="{769318DC-13DD-4165-899B-B5DD70E2A45A}" dt="2026-01-20T20:16:36.250" v="126" actId="404"/>
          <ac:spMkLst>
            <pc:docMk/>
            <pc:sldMk cId="2067285378" sldId="301"/>
            <ac:spMk id="3" creationId="{CFCCDC0A-6F0A-3571-F69F-661ED2D62B13}"/>
          </ac:spMkLst>
        </pc:spChg>
        <pc:graphicFrameChg chg="mod">
          <ac:chgData name="Karthikeya Chintha" userId="5b54ffc2d2b6d493" providerId="LiveId" clId="{769318DC-13DD-4165-899B-B5DD70E2A45A}" dt="2026-01-20T20:10:45.686" v="35" actId="1076"/>
          <ac:graphicFrameMkLst>
            <pc:docMk/>
            <pc:sldMk cId="2067285378" sldId="301"/>
            <ac:graphicFrameMk id="7" creationId="{EF929753-ED4A-4536-A6D8-B51E36A5A5C7}"/>
          </ac:graphicFrameMkLst>
        </pc:graphicFrameChg>
      </pc:sldChg>
      <pc:sldChg chg="modSp mod">
        <pc:chgData name="Karthikeya Chintha" userId="5b54ffc2d2b6d493" providerId="LiveId" clId="{769318DC-13DD-4165-899B-B5DD70E2A45A}" dt="2026-01-23T07:55:24.769" v="282" actId="403"/>
        <pc:sldMkLst>
          <pc:docMk/>
          <pc:sldMk cId="3581191190" sldId="302"/>
        </pc:sldMkLst>
        <pc:spChg chg="mod">
          <ac:chgData name="Karthikeya Chintha" userId="5b54ffc2d2b6d493" providerId="LiveId" clId="{769318DC-13DD-4165-899B-B5DD70E2A45A}" dt="2026-01-23T07:55:24.769" v="282" actId="403"/>
          <ac:spMkLst>
            <pc:docMk/>
            <pc:sldMk cId="3581191190" sldId="302"/>
            <ac:spMk id="7" creationId="{FEFDEDD6-1AAF-B63D-DF73-3934B833413D}"/>
          </ac:spMkLst>
        </pc:spChg>
        <pc:spChg chg="mod">
          <ac:chgData name="Karthikeya Chintha" userId="5b54ffc2d2b6d493" providerId="LiveId" clId="{769318DC-13DD-4165-899B-B5DD70E2A45A}" dt="2026-01-20T20:26:23.703" v="266" actId="20577"/>
          <ac:spMkLst>
            <pc:docMk/>
            <pc:sldMk cId="3581191190" sldId="302"/>
            <ac:spMk id="9" creationId="{2F81A554-3920-BF73-8FC5-BB4531434661}"/>
          </ac:spMkLst>
        </pc:spChg>
      </pc:sldChg>
      <pc:sldChg chg="modSp mod">
        <pc:chgData name="Karthikeya Chintha" userId="5b54ffc2d2b6d493" providerId="LiveId" clId="{769318DC-13DD-4165-899B-B5DD70E2A45A}" dt="2026-01-20T20:11:07.045" v="39" actId="1076"/>
        <pc:sldMkLst>
          <pc:docMk/>
          <pc:sldMk cId="4064432330" sldId="303"/>
        </pc:sldMkLst>
        <pc:spChg chg="mod">
          <ac:chgData name="Karthikeya Chintha" userId="5b54ffc2d2b6d493" providerId="LiveId" clId="{769318DC-13DD-4165-899B-B5DD70E2A45A}" dt="2026-01-20T20:11:02.090" v="38" actId="1076"/>
          <ac:spMkLst>
            <pc:docMk/>
            <pc:sldMk cId="4064432330" sldId="303"/>
            <ac:spMk id="2" creationId="{FE8CF2A1-7C9C-ADF9-1A2A-C9C28226609C}"/>
          </ac:spMkLst>
        </pc:spChg>
        <pc:spChg chg="mod">
          <ac:chgData name="Karthikeya Chintha" userId="5b54ffc2d2b6d493" providerId="LiveId" clId="{769318DC-13DD-4165-899B-B5DD70E2A45A}" dt="2026-01-20T20:11:07.045" v="39" actId="1076"/>
          <ac:spMkLst>
            <pc:docMk/>
            <pc:sldMk cId="4064432330" sldId="303"/>
            <ac:spMk id="3" creationId="{0E52430D-97F1-1516-FF6B-A65BFB6D5F5F}"/>
          </ac:spMkLst>
        </pc:spChg>
      </pc:sldChg>
      <pc:sldChg chg="modSp mod">
        <pc:chgData name="Karthikeya Chintha" userId="5b54ffc2d2b6d493" providerId="LiveId" clId="{769318DC-13DD-4165-899B-B5DD70E2A45A}" dt="2026-01-20T20:16:43.051" v="127" actId="404"/>
        <pc:sldMkLst>
          <pc:docMk/>
          <pc:sldMk cId="2214696976" sldId="304"/>
        </pc:sldMkLst>
        <pc:spChg chg="mod">
          <ac:chgData name="Karthikeya Chintha" userId="5b54ffc2d2b6d493" providerId="LiveId" clId="{769318DC-13DD-4165-899B-B5DD70E2A45A}" dt="2026-01-20T20:13:08.404" v="57" actId="403"/>
          <ac:spMkLst>
            <pc:docMk/>
            <pc:sldMk cId="2214696976" sldId="304"/>
            <ac:spMk id="2" creationId="{4A81F694-2D4D-2D2D-895A-8BB05E633E3D}"/>
          </ac:spMkLst>
        </pc:spChg>
        <pc:spChg chg="mod">
          <ac:chgData name="Karthikeya Chintha" userId="5b54ffc2d2b6d493" providerId="LiveId" clId="{769318DC-13DD-4165-899B-B5DD70E2A45A}" dt="2026-01-20T20:16:43.051" v="127" actId="404"/>
          <ac:spMkLst>
            <pc:docMk/>
            <pc:sldMk cId="2214696976" sldId="304"/>
            <ac:spMk id="7" creationId="{82B87DD0-A9EC-5377-D34B-9B55BAEFB79E}"/>
          </ac:spMkLst>
        </pc:spChg>
      </pc:sldChg>
      <pc:sldChg chg="modSp mod">
        <pc:chgData name="Karthikeya Chintha" userId="5b54ffc2d2b6d493" providerId="LiveId" clId="{769318DC-13DD-4165-899B-B5DD70E2A45A}" dt="2026-01-20T20:16:51.797" v="128" actId="404"/>
        <pc:sldMkLst>
          <pc:docMk/>
          <pc:sldMk cId="3000957372" sldId="305"/>
        </pc:sldMkLst>
        <pc:spChg chg="mod">
          <ac:chgData name="Karthikeya Chintha" userId="5b54ffc2d2b6d493" providerId="LiveId" clId="{769318DC-13DD-4165-899B-B5DD70E2A45A}" dt="2026-01-20T20:16:51.797" v="128" actId="404"/>
          <ac:spMkLst>
            <pc:docMk/>
            <pc:sldMk cId="3000957372" sldId="305"/>
            <ac:spMk id="8" creationId="{D6860B12-9E66-C5EE-C2A1-8CE5E6311311}"/>
          </ac:spMkLst>
        </pc:spChg>
      </pc:sldChg>
      <pc:sldChg chg="modSp mod">
        <pc:chgData name="Karthikeya Chintha" userId="5b54ffc2d2b6d493" providerId="LiveId" clId="{769318DC-13DD-4165-899B-B5DD70E2A45A}" dt="2026-01-20T20:17:03.995" v="130" actId="1076"/>
        <pc:sldMkLst>
          <pc:docMk/>
          <pc:sldMk cId="2515587608" sldId="306"/>
        </pc:sldMkLst>
        <pc:spChg chg="mod">
          <ac:chgData name="Karthikeya Chintha" userId="5b54ffc2d2b6d493" providerId="LiveId" clId="{769318DC-13DD-4165-899B-B5DD70E2A45A}" dt="2026-01-20T20:17:03.995" v="130" actId="1076"/>
          <ac:spMkLst>
            <pc:docMk/>
            <pc:sldMk cId="2515587608" sldId="306"/>
            <ac:spMk id="3" creationId="{165B4BD6-1E36-3196-ED7A-83536C79EFC1}"/>
          </ac:spMkLst>
        </pc:spChg>
      </pc:sldChg>
      <pc:sldChg chg="modSp mod">
        <pc:chgData name="Karthikeya Chintha" userId="5b54ffc2d2b6d493" providerId="LiveId" clId="{769318DC-13DD-4165-899B-B5DD70E2A45A}" dt="2026-01-20T20:17:16.647" v="132" actId="1076"/>
        <pc:sldMkLst>
          <pc:docMk/>
          <pc:sldMk cId="40549587" sldId="307"/>
        </pc:sldMkLst>
        <pc:spChg chg="mod">
          <ac:chgData name="Karthikeya Chintha" userId="5b54ffc2d2b6d493" providerId="LiveId" clId="{769318DC-13DD-4165-899B-B5DD70E2A45A}" dt="2026-01-20T20:12:53.540" v="55" actId="403"/>
          <ac:spMkLst>
            <pc:docMk/>
            <pc:sldMk cId="40549587" sldId="307"/>
            <ac:spMk id="2" creationId="{75BB33B9-82B3-8419-FE0F-67ABFAF1027D}"/>
          </ac:spMkLst>
        </pc:spChg>
        <pc:spChg chg="mod">
          <ac:chgData name="Karthikeya Chintha" userId="5b54ffc2d2b6d493" providerId="LiveId" clId="{769318DC-13DD-4165-899B-B5DD70E2A45A}" dt="2026-01-20T20:17:16.647" v="132" actId="1076"/>
          <ac:spMkLst>
            <pc:docMk/>
            <pc:sldMk cId="40549587" sldId="307"/>
            <ac:spMk id="8" creationId="{ED50B567-F160-A969-0F02-BDB696741A1C}"/>
          </ac:spMkLst>
        </pc:spChg>
      </pc:sldChg>
      <pc:sldChg chg="modSp mod">
        <pc:chgData name="Karthikeya Chintha" userId="5b54ffc2d2b6d493" providerId="LiveId" clId="{769318DC-13DD-4165-899B-B5DD70E2A45A}" dt="2026-01-20T20:27:07.867" v="276" actId="14"/>
        <pc:sldMkLst>
          <pc:docMk/>
          <pc:sldMk cId="1529538544" sldId="308"/>
        </pc:sldMkLst>
        <pc:spChg chg="mod">
          <ac:chgData name="Karthikeya Chintha" userId="5b54ffc2d2b6d493" providerId="LiveId" clId="{769318DC-13DD-4165-899B-B5DD70E2A45A}" dt="2026-01-20T20:27:07.867" v="276" actId="14"/>
          <ac:spMkLst>
            <pc:docMk/>
            <pc:sldMk cId="1529538544" sldId="308"/>
            <ac:spMk id="8" creationId="{420C9E0B-F6D1-432C-ED7D-41B169819C28}"/>
          </ac:spMkLst>
        </pc:spChg>
        <pc:graphicFrameChg chg="mod">
          <ac:chgData name="Karthikeya Chintha" userId="5b54ffc2d2b6d493" providerId="LiveId" clId="{769318DC-13DD-4165-899B-B5DD70E2A45A}" dt="2026-01-20T20:17:52.973" v="140" actId="1076"/>
          <ac:graphicFrameMkLst>
            <pc:docMk/>
            <pc:sldMk cId="1529538544" sldId="308"/>
            <ac:graphicFrameMk id="9" creationId="{EA516D1F-843A-4F71-AEE4-D45905752F7C}"/>
          </ac:graphicFrameMkLst>
        </pc:graphicFrameChg>
      </pc:sldChg>
      <pc:sldChg chg="modSp mod">
        <pc:chgData name="Karthikeya Chintha" userId="5b54ffc2d2b6d493" providerId="LiveId" clId="{769318DC-13DD-4165-899B-B5DD70E2A45A}" dt="2026-01-20T20:17:43.155" v="139" actId="1076"/>
        <pc:sldMkLst>
          <pc:docMk/>
          <pc:sldMk cId="1716522883" sldId="309"/>
        </pc:sldMkLst>
        <pc:spChg chg="mod">
          <ac:chgData name="Karthikeya Chintha" userId="5b54ffc2d2b6d493" providerId="LiveId" clId="{769318DC-13DD-4165-899B-B5DD70E2A45A}" dt="2026-01-20T20:17:40.019" v="138" actId="1076"/>
          <ac:spMkLst>
            <pc:docMk/>
            <pc:sldMk cId="1716522883" sldId="309"/>
            <ac:spMk id="2" creationId="{9471593E-2F21-D939-9C37-318B14B144F6}"/>
          </ac:spMkLst>
        </pc:spChg>
        <pc:spChg chg="mod">
          <ac:chgData name="Karthikeya Chintha" userId="5b54ffc2d2b6d493" providerId="LiveId" clId="{769318DC-13DD-4165-899B-B5DD70E2A45A}" dt="2026-01-20T20:17:43.155" v="139" actId="1076"/>
          <ac:spMkLst>
            <pc:docMk/>
            <pc:sldMk cId="1716522883" sldId="309"/>
            <ac:spMk id="3" creationId="{3F8A2C42-09BB-7033-1242-90A0CDCF4353}"/>
          </ac:spMkLst>
        </pc:spChg>
      </pc:sldChg>
      <pc:sldChg chg="modSp mod">
        <pc:chgData name="Karthikeya Chintha" userId="5b54ffc2d2b6d493" providerId="LiveId" clId="{769318DC-13DD-4165-899B-B5DD70E2A45A}" dt="2026-01-20T20:25:50.198" v="258" actId="404"/>
        <pc:sldMkLst>
          <pc:docMk/>
          <pc:sldMk cId="2956002553" sldId="310"/>
        </pc:sldMkLst>
        <pc:spChg chg="mod">
          <ac:chgData name="Karthikeya Chintha" userId="5b54ffc2d2b6d493" providerId="LiveId" clId="{769318DC-13DD-4165-899B-B5DD70E2A45A}" dt="2026-01-20T20:18:20.378" v="143" actId="1076"/>
          <ac:spMkLst>
            <pc:docMk/>
            <pc:sldMk cId="2956002553" sldId="310"/>
            <ac:spMk id="2" creationId="{46FCE5E2-0714-EAC4-FA3A-54FAEE8CDB77}"/>
          </ac:spMkLst>
        </pc:spChg>
        <pc:spChg chg="mod">
          <ac:chgData name="Karthikeya Chintha" userId="5b54ffc2d2b6d493" providerId="LiveId" clId="{769318DC-13DD-4165-899B-B5DD70E2A45A}" dt="2026-01-20T20:25:50.198" v="258" actId="404"/>
          <ac:spMkLst>
            <pc:docMk/>
            <pc:sldMk cId="2956002553" sldId="310"/>
            <ac:spMk id="3" creationId="{7D62BC3D-E3E6-BD20-5335-1717016E5898}"/>
          </ac:spMkLst>
        </pc:spChg>
      </pc:sldChg>
      <pc:sldChg chg="addSp delSp modSp new mod">
        <pc:chgData name="Karthikeya Chintha" userId="5b54ffc2d2b6d493" providerId="LiveId" clId="{769318DC-13DD-4165-899B-B5DD70E2A45A}" dt="2026-01-20T20:23:41.972" v="237" actId="1076"/>
        <pc:sldMkLst>
          <pc:docMk/>
          <pc:sldMk cId="2209048263" sldId="311"/>
        </pc:sldMkLst>
        <pc:spChg chg="add mod">
          <ac:chgData name="Karthikeya Chintha" userId="5b54ffc2d2b6d493" providerId="LiveId" clId="{769318DC-13DD-4165-899B-B5DD70E2A45A}" dt="2026-01-20T20:23:41.972" v="237" actId="1076"/>
          <ac:spMkLst>
            <pc:docMk/>
            <pc:sldMk cId="2209048263" sldId="311"/>
            <ac:spMk id="9" creationId="{DA97A9E0-7121-D94A-4519-1BC2A50F838D}"/>
          </ac:spMkLst>
        </pc:spChg>
      </pc:sldChg>
      <pc:sldChg chg="addSp modSp new mod">
        <pc:chgData name="Karthikeya Chintha" userId="5b54ffc2d2b6d493" providerId="LiveId" clId="{769318DC-13DD-4165-899B-B5DD70E2A45A}" dt="2026-01-20T20:24:52.043" v="256" actId="14100"/>
        <pc:sldMkLst>
          <pc:docMk/>
          <pc:sldMk cId="1649912872" sldId="312"/>
        </pc:sldMkLst>
        <pc:spChg chg="add mod">
          <ac:chgData name="Karthikeya Chintha" userId="5b54ffc2d2b6d493" providerId="LiveId" clId="{769318DC-13DD-4165-899B-B5DD70E2A45A}" dt="2026-01-20T20:24:52.043" v="256" actId="14100"/>
          <ac:spMkLst>
            <pc:docMk/>
            <pc:sldMk cId="1649912872" sldId="312"/>
            <ac:spMk id="6" creationId="{62741F8C-03EE-679A-EA8E-A6F7E67A681E}"/>
          </ac:spMkLst>
        </pc:spChg>
        <pc:spChg chg="add mod">
          <ac:chgData name="Karthikeya Chintha" userId="5b54ffc2d2b6d493" providerId="LiveId" clId="{769318DC-13DD-4165-899B-B5DD70E2A45A}" dt="2026-01-20T20:24:36.895" v="252" actId="1076"/>
          <ac:spMkLst>
            <pc:docMk/>
            <pc:sldMk cId="1649912872" sldId="312"/>
            <ac:spMk id="8" creationId="{61372EB1-709C-EBFC-2470-31A07B873F3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5b54ffc2d2b6d493/Desktop/Project/IT%20Tickets.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[IT Tickets.xlsx]Objective!PivotTable3</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solidFill>
                  <a:schemeClr val="bg1"/>
                </a:solidFill>
              </a:rPr>
              <a:t>Trend</a:t>
            </a:r>
            <a:r>
              <a:rPr lang="en-US" baseline="0" dirty="0">
                <a:solidFill>
                  <a:schemeClr val="bg1"/>
                </a:solidFill>
              </a:rPr>
              <a:t> Of ID Tickets Over Time</a:t>
            </a:r>
            <a:endParaRPr lang="en-US" dirty="0">
              <a:solidFill>
                <a:schemeClr val="bg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Objective!$C$84</c:f>
              <c:strCache>
                <c:ptCount val="1"/>
                <c:pt idx="0">
                  <c:v>Total</c:v>
                </c:pt>
              </c:strCache>
            </c:strRef>
          </c:tx>
          <c:spPr>
            <a:ln w="28575" cap="rnd">
              <a:solidFill>
                <a:schemeClr val="accent1"/>
              </a:solidFill>
              <a:round/>
            </a:ln>
            <a:effectLst/>
          </c:spPr>
          <c:marker>
            <c:symbol val="none"/>
          </c:marker>
          <c:cat>
            <c:multiLvlStrRef>
              <c:f>Objective!$B$85:$B$150</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Objective!$C$85:$C$150</c:f>
              <c:numCache>
                <c:formatCode>General</c:formatCode>
                <c:ptCount val="60"/>
                <c:pt idx="0">
                  <c:v>1115</c:v>
                </c:pt>
                <c:pt idx="1">
                  <c:v>1056</c:v>
                </c:pt>
                <c:pt idx="2">
                  <c:v>1105</c:v>
                </c:pt>
                <c:pt idx="3">
                  <c:v>1054</c:v>
                </c:pt>
                <c:pt idx="4">
                  <c:v>1160</c:v>
                </c:pt>
                <c:pt idx="5">
                  <c:v>1051</c:v>
                </c:pt>
                <c:pt idx="6">
                  <c:v>1101</c:v>
                </c:pt>
                <c:pt idx="7">
                  <c:v>1090</c:v>
                </c:pt>
                <c:pt idx="8">
                  <c:v>1061</c:v>
                </c:pt>
                <c:pt idx="9">
                  <c:v>1088</c:v>
                </c:pt>
                <c:pt idx="10">
                  <c:v>1046</c:v>
                </c:pt>
                <c:pt idx="11">
                  <c:v>1124</c:v>
                </c:pt>
                <c:pt idx="12">
                  <c:v>1125</c:v>
                </c:pt>
                <c:pt idx="13">
                  <c:v>1151</c:v>
                </c:pt>
                <c:pt idx="14">
                  <c:v>1283</c:v>
                </c:pt>
                <c:pt idx="15">
                  <c:v>1245</c:v>
                </c:pt>
                <c:pt idx="16">
                  <c:v>1345</c:v>
                </c:pt>
                <c:pt idx="17">
                  <c:v>1244</c:v>
                </c:pt>
                <c:pt idx="18">
                  <c:v>1233</c:v>
                </c:pt>
                <c:pt idx="19">
                  <c:v>1259</c:v>
                </c:pt>
                <c:pt idx="20">
                  <c:v>1225</c:v>
                </c:pt>
                <c:pt idx="21">
                  <c:v>1305</c:v>
                </c:pt>
                <c:pt idx="22">
                  <c:v>1243</c:v>
                </c:pt>
                <c:pt idx="23">
                  <c:v>1257</c:v>
                </c:pt>
                <c:pt idx="24">
                  <c:v>1289</c:v>
                </c:pt>
                <c:pt idx="25">
                  <c:v>1507</c:v>
                </c:pt>
                <c:pt idx="26">
                  <c:v>1470</c:v>
                </c:pt>
                <c:pt idx="27">
                  <c:v>1627</c:v>
                </c:pt>
                <c:pt idx="28">
                  <c:v>1653</c:v>
                </c:pt>
                <c:pt idx="29">
                  <c:v>1656</c:v>
                </c:pt>
                <c:pt idx="30">
                  <c:v>1620</c:v>
                </c:pt>
                <c:pt idx="31">
                  <c:v>1669</c:v>
                </c:pt>
                <c:pt idx="32">
                  <c:v>1638</c:v>
                </c:pt>
                <c:pt idx="33">
                  <c:v>1660</c:v>
                </c:pt>
                <c:pt idx="34">
                  <c:v>1626</c:v>
                </c:pt>
                <c:pt idx="35">
                  <c:v>1539</c:v>
                </c:pt>
                <c:pt idx="36">
                  <c:v>1522</c:v>
                </c:pt>
                <c:pt idx="37">
                  <c:v>1746</c:v>
                </c:pt>
                <c:pt idx="38">
                  <c:v>1846</c:v>
                </c:pt>
                <c:pt idx="39">
                  <c:v>1598</c:v>
                </c:pt>
                <c:pt idx="40">
                  <c:v>1734</c:v>
                </c:pt>
                <c:pt idx="41">
                  <c:v>1820</c:v>
                </c:pt>
                <c:pt idx="42">
                  <c:v>1885</c:v>
                </c:pt>
                <c:pt idx="43">
                  <c:v>1905</c:v>
                </c:pt>
                <c:pt idx="44">
                  <c:v>1856</c:v>
                </c:pt>
                <c:pt idx="45">
                  <c:v>1875</c:v>
                </c:pt>
                <c:pt idx="46">
                  <c:v>1831</c:v>
                </c:pt>
                <c:pt idx="47">
                  <c:v>1872</c:v>
                </c:pt>
                <c:pt idx="48">
                  <c:v>2191</c:v>
                </c:pt>
                <c:pt idx="49">
                  <c:v>2441</c:v>
                </c:pt>
                <c:pt idx="50">
                  <c:v>2524</c:v>
                </c:pt>
                <c:pt idx="51">
                  <c:v>2413</c:v>
                </c:pt>
                <c:pt idx="52">
                  <c:v>2229</c:v>
                </c:pt>
                <c:pt idx="53">
                  <c:v>2370</c:v>
                </c:pt>
                <c:pt idx="54">
                  <c:v>2231</c:v>
                </c:pt>
                <c:pt idx="55">
                  <c:v>2566</c:v>
                </c:pt>
                <c:pt idx="56">
                  <c:v>2439</c:v>
                </c:pt>
                <c:pt idx="57">
                  <c:v>2567</c:v>
                </c:pt>
                <c:pt idx="58">
                  <c:v>2508</c:v>
                </c:pt>
                <c:pt idx="59">
                  <c:v>2609</c:v>
                </c:pt>
              </c:numCache>
            </c:numRef>
          </c:val>
          <c:smooth val="0"/>
          <c:extLst>
            <c:ext xmlns:c16="http://schemas.microsoft.com/office/drawing/2014/chart" uri="{C3380CC4-5D6E-409C-BE32-E72D297353CC}">
              <c16:uniqueId val="{00000000-7DFB-4D45-9AE4-AAB3FCFF6CC4}"/>
            </c:ext>
          </c:extLst>
        </c:ser>
        <c:dLbls>
          <c:showLegendKey val="0"/>
          <c:showVal val="0"/>
          <c:showCatName val="0"/>
          <c:showSerName val="0"/>
          <c:showPercent val="0"/>
          <c:showBubbleSize val="0"/>
        </c:dLbls>
        <c:smooth val="0"/>
        <c:axId val="1098654799"/>
        <c:axId val="1098652879"/>
      </c:lineChart>
      <c:catAx>
        <c:axId val="109865479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 &amp; Months</a:t>
                </a:r>
                <a:r>
                  <a:rPr lang="en-IN" baseline="0"/>
                  <a:t> </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8652879"/>
        <c:crosses val="autoZero"/>
        <c:auto val="1"/>
        <c:lblAlgn val="ctr"/>
        <c:lblOffset val="100"/>
        <c:noMultiLvlLbl val="0"/>
      </c:catAx>
      <c:valAx>
        <c:axId val="10986528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a:t>
                </a:r>
                <a:r>
                  <a:rPr lang="en-IN" baseline="0"/>
                  <a:t> of ID Tickets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865479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IT</a:t>
            </a:r>
            <a:r>
              <a:rPr lang="en-US" baseline="0"/>
              <a:t> Tickets Per Category</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Subjective!$G$74</c:f>
              <c:strCache>
                <c:ptCount val="1"/>
                <c:pt idx="0">
                  <c:v>Count of ID Ticket</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1F5A-4FA6-AB82-FD6064EF3AF6}"/>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1F5A-4FA6-AB82-FD6064EF3AF6}"/>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1F5A-4FA6-AB82-FD6064EF3AF6}"/>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1F5A-4FA6-AB82-FD6064EF3AF6}"/>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1F5A-4FA6-AB82-FD6064EF3AF6}"/>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Subjective!$F$75:$F$79</c:f>
              <c:strCache>
                <c:ptCount val="5"/>
                <c:pt idx="0">
                  <c:v>Hardware</c:v>
                </c:pt>
                <c:pt idx="1">
                  <c:v>System</c:v>
                </c:pt>
                <c:pt idx="2">
                  <c:v>Software</c:v>
                </c:pt>
                <c:pt idx="3">
                  <c:v>Login Access</c:v>
                </c:pt>
                <c:pt idx="4">
                  <c:v>Grand Total</c:v>
                </c:pt>
              </c:strCache>
            </c:strRef>
          </c:cat>
          <c:val>
            <c:numRef>
              <c:f>Subjective!$G$75:$G$79</c:f>
              <c:numCache>
                <c:formatCode>General</c:formatCode>
                <c:ptCount val="5"/>
                <c:pt idx="0">
                  <c:v>9733</c:v>
                </c:pt>
                <c:pt idx="1">
                  <c:v>39002</c:v>
                </c:pt>
                <c:pt idx="2">
                  <c:v>19570</c:v>
                </c:pt>
                <c:pt idx="3">
                  <c:v>29193</c:v>
                </c:pt>
                <c:pt idx="4">
                  <c:v>97498</c:v>
                </c:pt>
              </c:numCache>
            </c:numRef>
          </c:val>
          <c:extLst>
            <c:ext xmlns:c16="http://schemas.microsoft.com/office/drawing/2014/chart" uri="{C3380CC4-5D6E-409C-BE32-E72D297353CC}">
              <c16:uniqueId val="{0000000A-1F5A-4FA6-AB82-FD6064EF3AF6}"/>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Tickets.xlsx]Subjective!PivotTable17</c:name>
    <c:fmtId val="28"/>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baseline="0">
                <a:solidFill>
                  <a:sysClr val="windowText" lastClr="000000">
                    <a:lumMod val="65000"/>
                    <a:lumOff val="35000"/>
                  </a:sysClr>
                </a:solidFill>
                <a:latin typeface="+mn-lt"/>
                <a:ea typeface="+mn-ea"/>
                <a:cs typeface="+mn-cs"/>
              </a:defRPr>
            </a:pPr>
            <a:r>
              <a:rPr lang="en-IN" b="0" i="0">
                <a:effectLst/>
              </a:rPr>
              <a:t>Avg resolution time by category</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baseline="0">
              <a:solidFill>
                <a:sysClr val="windowText" lastClr="000000">
                  <a:lumMod val="65000"/>
                  <a:lumOff val="35000"/>
                </a:sysClr>
              </a:solidFill>
              <a:latin typeface="+mn-lt"/>
              <a:ea typeface="+mn-ea"/>
              <a:cs typeface="+mn-cs"/>
            </a:defRPr>
          </a:pPr>
          <a:endParaRPr lang="en-US"/>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Subjective!$F$351</c:f>
              <c:strCache>
                <c:ptCount val="1"/>
                <c:pt idx="0">
                  <c:v>Total</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Subjective!$E$352:$E$417</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Subjective!$F$352:$F$417</c:f>
              <c:numCache>
                <c:formatCode>0.00</c:formatCode>
                <c:ptCount val="60"/>
                <c:pt idx="0">
                  <c:v>4.565022421524664</c:v>
                </c:pt>
                <c:pt idx="1">
                  <c:v>4.5965909090909092</c:v>
                </c:pt>
                <c:pt idx="2">
                  <c:v>4.4823529411764707</c:v>
                </c:pt>
                <c:pt idx="3">
                  <c:v>4.5815939278937385</c:v>
                </c:pt>
                <c:pt idx="4">
                  <c:v>4.6836206896551724</c:v>
                </c:pt>
                <c:pt idx="5">
                  <c:v>4.59372026641294</c:v>
                </c:pt>
                <c:pt idx="6">
                  <c:v>4.6857402361489555</c:v>
                </c:pt>
                <c:pt idx="7">
                  <c:v>4.4486238532110089</c:v>
                </c:pt>
                <c:pt idx="8">
                  <c:v>4.4882186616399622</c:v>
                </c:pt>
                <c:pt idx="9">
                  <c:v>4.5110294117647056</c:v>
                </c:pt>
                <c:pt idx="10">
                  <c:v>4.5353728489483744</c:v>
                </c:pt>
                <c:pt idx="11">
                  <c:v>4.4448398576512451</c:v>
                </c:pt>
                <c:pt idx="12">
                  <c:v>4.7795555555555556</c:v>
                </c:pt>
                <c:pt idx="13">
                  <c:v>4.4995655951346656</c:v>
                </c:pt>
                <c:pt idx="14">
                  <c:v>4.4247856586126266</c:v>
                </c:pt>
                <c:pt idx="15">
                  <c:v>4.5068273092369475</c:v>
                </c:pt>
                <c:pt idx="16">
                  <c:v>4.4981412639405205</c:v>
                </c:pt>
                <c:pt idx="17">
                  <c:v>4.502411575562701</c:v>
                </c:pt>
                <c:pt idx="18">
                  <c:v>4.4014598540145986</c:v>
                </c:pt>
                <c:pt idx="19">
                  <c:v>4.725178713264496</c:v>
                </c:pt>
                <c:pt idx="20">
                  <c:v>4.4579591836734691</c:v>
                </c:pt>
                <c:pt idx="21">
                  <c:v>4.5195402298850578</c:v>
                </c:pt>
                <c:pt idx="22">
                  <c:v>4.6484312148028959</c:v>
                </c:pt>
                <c:pt idx="23">
                  <c:v>4.4216388225934766</c:v>
                </c:pt>
                <c:pt idx="24">
                  <c:v>4.4577191621411947</c:v>
                </c:pt>
                <c:pt idx="25">
                  <c:v>4.5494359654943599</c:v>
                </c:pt>
                <c:pt idx="26">
                  <c:v>4.6340136054421768</c:v>
                </c:pt>
                <c:pt idx="27">
                  <c:v>4.6410571604179474</c:v>
                </c:pt>
                <c:pt idx="28">
                  <c:v>4.6291591046581972</c:v>
                </c:pt>
                <c:pt idx="29">
                  <c:v>4.6823671497584538</c:v>
                </c:pt>
                <c:pt idx="30">
                  <c:v>4.5370370370370372</c:v>
                </c:pt>
                <c:pt idx="31">
                  <c:v>4.3702816057519476</c:v>
                </c:pt>
                <c:pt idx="32">
                  <c:v>4.5927960927960925</c:v>
                </c:pt>
                <c:pt idx="33">
                  <c:v>4.5024096385542167</c:v>
                </c:pt>
                <c:pt idx="34">
                  <c:v>4.4600246002460029</c:v>
                </c:pt>
                <c:pt idx="35">
                  <c:v>4.640025990903184</c:v>
                </c:pt>
                <c:pt idx="36">
                  <c:v>4.5624178712220766</c:v>
                </c:pt>
                <c:pt idx="37">
                  <c:v>4.6529209621993131</c:v>
                </c:pt>
                <c:pt idx="38">
                  <c:v>4.4544962080173347</c:v>
                </c:pt>
                <c:pt idx="39">
                  <c:v>4.5043804755944929</c:v>
                </c:pt>
                <c:pt idx="40">
                  <c:v>4.4186851211072664</c:v>
                </c:pt>
                <c:pt idx="41">
                  <c:v>4.5785714285714283</c:v>
                </c:pt>
                <c:pt idx="42">
                  <c:v>4.4859416445623346</c:v>
                </c:pt>
                <c:pt idx="43">
                  <c:v>4.5317585301837271</c:v>
                </c:pt>
                <c:pt idx="44">
                  <c:v>4.4698275862068968</c:v>
                </c:pt>
                <c:pt idx="45">
                  <c:v>4.6688000000000001</c:v>
                </c:pt>
                <c:pt idx="46">
                  <c:v>4.410158383397051</c:v>
                </c:pt>
                <c:pt idx="47">
                  <c:v>4.5160256410256414</c:v>
                </c:pt>
                <c:pt idx="48">
                  <c:v>4.5554541305340024</c:v>
                </c:pt>
                <c:pt idx="49">
                  <c:v>4.5977058582548134</c:v>
                </c:pt>
                <c:pt idx="50">
                  <c:v>4.687797147385103</c:v>
                </c:pt>
                <c:pt idx="51">
                  <c:v>4.5681723995026937</c:v>
                </c:pt>
                <c:pt idx="52">
                  <c:v>4.5966801256168681</c:v>
                </c:pt>
                <c:pt idx="53">
                  <c:v>4.6801687763713078</c:v>
                </c:pt>
                <c:pt idx="54">
                  <c:v>4.6450022411474672</c:v>
                </c:pt>
                <c:pt idx="55">
                  <c:v>4.4816835541699147</c:v>
                </c:pt>
                <c:pt idx="56">
                  <c:v>4.4940549405494057</c:v>
                </c:pt>
                <c:pt idx="57">
                  <c:v>4.5687573042462022</c:v>
                </c:pt>
                <c:pt idx="58">
                  <c:v>4.5207336523125994</c:v>
                </c:pt>
                <c:pt idx="59">
                  <c:v>4.640858566500575</c:v>
                </c:pt>
              </c:numCache>
            </c:numRef>
          </c:val>
          <c:extLst>
            <c:ext xmlns:c16="http://schemas.microsoft.com/office/drawing/2014/chart" uri="{C3380CC4-5D6E-409C-BE32-E72D297353CC}">
              <c16:uniqueId val="{00000000-FBC3-488E-86B4-B75BAC1F235D}"/>
            </c:ext>
          </c:extLst>
        </c:ser>
        <c:dLbls>
          <c:showLegendKey val="0"/>
          <c:showVal val="0"/>
          <c:showCatName val="0"/>
          <c:showSerName val="0"/>
          <c:showPercent val="0"/>
          <c:showBubbleSize val="0"/>
        </c:dLbls>
        <c:gapWidth val="100"/>
        <c:overlap val="-24"/>
        <c:axId val="183324623"/>
        <c:axId val="183326543"/>
      </c:barChart>
      <c:catAx>
        <c:axId val="183324623"/>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326543"/>
        <c:crosses val="autoZero"/>
        <c:auto val="1"/>
        <c:lblAlgn val="ctr"/>
        <c:lblOffset val="100"/>
        <c:noMultiLvlLbl val="0"/>
      </c:catAx>
      <c:valAx>
        <c:axId val="18332654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3246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Tickets.xlsx]Subjective!PivotTable23</c:name>
    <c:fmtId val="3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Severity</a:t>
            </a:r>
            <a:r>
              <a:rPr lang="en-IN" baseline="0"/>
              <a:t> V Priorty</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Subjective!$B$85:$B$86</c:f>
              <c:strCache>
                <c:ptCount val="1"/>
                <c:pt idx="0">
                  <c:v>0 - Unassigned</c:v>
                </c:pt>
              </c:strCache>
            </c:strRef>
          </c:tx>
          <c:spPr>
            <a:solidFill>
              <a:schemeClr val="accent1"/>
            </a:solidFill>
            <a:ln>
              <a:noFill/>
            </a:ln>
            <a:effectLst/>
          </c:spPr>
          <c:invertIfNegative val="0"/>
          <c:cat>
            <c:strRef>
              <c:f>Subjective!$A$87:$A$92</c:f>
              <c:strCache>
                <c:ptCount val="5"/>
                <c:pt idx="0">
                  <c:v>0 - Unclassified</c:v>
                </c:pt>
                <c:pt idx="1">
                  <c:v>1 - Minor</c:v>
                </c:pt>
                <c:pt idx="2">
                  <c:v>2 - Normal</c:v>
                </c:pt>
                <c:pt idx="3">
                  <c:v>3 - Major</c:v>
                </c:pt>
                <c:pt idx="4">
                  <c:v>4 - Urgent</c:v>
                </c:pt>
              </c:strCache>
            </c:strRef>
          </c:cat>
          <c:val>
            <c:numRef>
              <c:f>Subjective!$B$87:$B$92</c:f>
              <c:numCache>
                <c:formatCode>General</c:formatCode>
                <c:ptCount val="5"/>
                <c:pt idx="0">
                  <c:v>115</c:v>
                </c:pt>
                <c:pt idx="1">
                  <c:v>626</c:v>
                </c:pt>
                <c:pt idx="2">
                  <c:v>26826</c:v>
                </c:pt>
                <c:pt idx="3">
                  <c:v>1434</c:v>
                </c:pt>
                <c:pt idx="4">
                  <c:v>409</c:v>
                </c:pt>
              </c:numCache>
            </c:numRef>
          </c:val>
          <c:extLst>
            <c:ext xmlns:c16="http://schemas.microsoft.com/office/drawing/2014/chart" uri="{C3380CC4-5D6E-409C-BE32-E72D297353CC}">
              <c16:uniqueId val="{00000000-6F49-49ED-B01E-3116971B8902}"/>
            </c:ext>
          </c:extLst>
        </c:ser>
        <c:ser>
          <c:idx val="1"/>
          <c:order val="1"/>
          <c:tx>
            <c:strRef>
              <c:f>Subjective!$C$85:$C$86</c:f>
              <c:strCache>
                <c:ptCount val="1"/>
                <c:pt idx="0">
                  <c:v>1 - Low</c:v>
                </c:pt>
              </c:strCache>
            </c:strRef>
          </c:tx>
          <c:spPr>
            <a:solidFill>
              <a:schemeClr val="accent2"/>
            </a:solidFill>
            <a:ln>
              <a:noFill/>
            </a:ln>
            <a:effectLst/>
          </c:spPr>
          <c:invertIfNegative val="0"/>
          <c:cat>
            <c:strRef>
              <c:f>Subjective!$A$87:$A$92</c:f>
              <c:strCache>
                <c:ptCount val="5"/>
                <c:pt idx="0">
                  <c:v>0 - Unclassified</c:v>
                </c:pt>
                <c:pt idx="1">
                  <c:v>1 - Minor</c:v>
                </c:pt>
                <c:pt idx="2">
                  <c:v>2 - Normal</c:v>
                </c:pt>
                <c:pt idx="3">
                  <c:v>3 - Major</c:v>
                </c:pt>
                <c:pt idx="4">
                  <c:v>4 - Urgent</c:v>
                </c:pt>
              </c:strCache>
            </c:strRef>
          </c:cat>
          <c:val>
            <c:numRef>
              <c:f>Subjective!$C$87:$C$92</c:f>
              <c:numCache>
                <c:formatCode>General</c:formatCode>
                <c:ptCount val="5"/>
                <c:pt idx="0">
                  <c:v>80</c:v>
                </c:pt>
                <c:pt idx="1">
                  <c:v>549</c:v>
                </c:pt>
                <c:pt idx="2">
                  <c:v>15282</c:v>
                </c:pt>
                <c:pt idx="3">
                  <c:v>614</c:v>
                </c:pt>
                <c:pt idx="4">
                  <c:v>169</c:v>
                </c:pt>
              </c:numCache>
            </c:numRef>
          </c:val>
          <c:extLst>
            <c:ext xmlns:c16="http://schemas.microsoft.com/office/drawing/2014/chart" uri="{C3380CC4-5D6E-409C-BE32-E72D297353CC}">
              <c16:uniqueId val="{00000001-6F49-49ED-B01E-3116971B8902}"/>
            </c:ext>
          </c:extLst>
        </c:ser>
        <c:ser>
          <c:idx val="2"/>
          <c:order val="2"/>
          <c:tx>
            <c:strRef>
              <c:f>Subjective!$D$85:$D$86</c:f>
              <c:strCache>
                <c:ptCount val="1"/>
                <c:pt idx="0">
                  <c:v>2 - Mid</c:v>
                </c:pt>
              </c:strCache>
            </c:strRef>
          </c:tx>
          <c:spPr>
            <a:solidFill>
              <a:schemeClr val="accent3"/>
            </a:solidFill>
            <a:ln>
              <a:noFill/>
            </a:ln>
            <a:effectLst/>
          </c:spPr>
          <c:invertIfNegative val="0"/>
          <c:cat>
            <c:strRef>
              <c:f>Subjective!$A$87:$A$92</c:f>
              <c:strCache>
                <c:ptCount val="5"/>
                <c:pt idx="0">
                  <c:v>0 - Unclassified</c:v>
                </c:pt>
                <c:pt idx="1">
                  <c:v>1 - Minor</c:v>
                </c:pt>
                <c:pt idx="2">
                  <c:v>2 - Normal</c:v>
                </c:pt>
                <c:pt idx="3">
                  <c:v>3 - Major</c:v>
                </c:pt>
                <c:pt idx="4">
                  <c:v>4 - Urgent</c:v>
                </c:pt>
              </c:strCache>
            </c:strRef>
          </c:cat>
          <c:val>
            <c:numRef>
              <c:f>Subjective!$D$87:$D$92</c:f>
              <c:numCache>
                <c:formatCode>General</c:formatCode>
                <c:ptCount val="5"/>
                <c:pt idx="0">
                  <c:v>55</c:v>
                </c:pt>
                <c:pt idx="1">
                  <c:v>407</c:v>
                </c:pt>
                <c:pt idx="2">
                  <c:v>14468</c:v>
                </c:pt>
                <c:pt idx="3">
                  <c:v>713</c:v>
                </c:pt>
                <c:pt idx="4">
                  <c:v>202</c:v>
                </c:pt>
              </c:numCache>
            </c:numRef>
          </c:val>
          <c:extLst>
            <c:ext xmlns:c16="http://schemas.microsoft.com/office/drawing/2014/chart" uri="{C3380CC4-5D6E-409C-BE32-E72D297353CC}">
              <c16:uniqueId val="{00000002-6F49-49ED-B01E-3116971B8902}"/>
            </c:ext>
          </c:extLst>
        </c:ser>
        <c:ser>
          <c:idx val="3"/>
          <c:order val="3"/>
          <c:tx>
            <c:strRef>
              <c:f>Subjective!$E$85:$E$86</c:f>
              <c:strCache>
                <c:ptCount val="1"/>
                <c:pt idx="0">
                  <c:v>3 - High</c:v>
                </c:pt>
              </c:strCache>
            </c:strRef>
          </c:tx>
          <c:spPr>
            <a:solidFill>
              <a:schemeClr val="accent4"/>
            </a:solidFill>
            <a:ln>
              <a:noFill/>
            </a:ln>
            <a:effectLst/>
          </c:spPr>
          <c:invertIfNegative val="0"/>
          <c:cat>
            <c:strRef>
              <c:f>Subjective!$A$87:$A$92</c:f>
              <c:strCache>
                <c:ptCount val="5"/>
                <c:pt idx="0">
                  <c:v>0 - Unclassified</c:v>
                </c:pt>
                <c:pt idx="1">
                  <c:v>1 - Minor</c:v>
                </c:pt>
                <c:pt idx="2">
                  <c:v>2 - Normal</c:v>
                </c:pt>
                <c:pt idx="3">
                  <c:v>3 - Major</c:v>
                </c:pt>
                <c:pt idx="4">
                  <c:v>4 - Urgent</c:v>
                </c:pt>
              </c:strCache>
            </c:strRef>
          </c:cat>
          <c:val>
            <c:numRef>
              <c:f>Subjective!$E$87:$E$92</c:f>
              <c:numCache>
                <c:formatCode>General</c:formatCode>
                <c:ptCount val="5"/>
                <c:pt idx="0">
                  <c:v>106</c:v>
                </c:pt>
                <c:pt idx="1">
                  <c:v>676</c:v>
                </c:pt>
                <c:pt idx="2">
                  <c:v>32080</c:v>
                </c:pt>
                <c:pt idx="3">
                  <c:v>2075</c:v>
                </c:pt>
                <c:pt idx="4">
                  <c:v>612</c:v>
                </c:pt>
              </c:numCache>
            </c:numRef>
          </c:val>
          <c:extLst>
            <c:ext xmlns:c16="http://schemas.microsoft.com/office/drawing/2014/chart" uri="{C3380CC4-5D6E-409C-BE32-E72D297353CC}">
              <c16:uniqueId val="{00000003-6F49-49ED-B01E-3116971B8902}"/>
            </c:ext>
          </c:extLst>
        </c:ser>
        <c:dLbls>
          <c:showLegendKey val="0"/>
          <c:showVal val="0"/>
          <c:showCatName val="0"/>
          <c:showSerName val="0"/>
          <c:showPercent val="0"/>
          <c:showBubbleSize val="0"/>
        </c:dLbls>
        <c:gapWidth val="182"/>
        <c:axId val="1828445984"/>
        <c:axId val="1828443584"/>
      </c:barChart>
      <c:catAx>
        <c:axId val="18284459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28443584"/>
        <c:crosses val="autoZero"/>
        <c:auto val="1"/>
        <c:lblAlgn val="ctr"/>
        <c:lblOffset val="100"/>
        <c:noMultiLvlLbl val="0"/>
      </c:catAx>
      <c:valAx>
        <c:axId val="18284435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28445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[IT Tickets.xlsx]Subjective!PivotTable20</c:name>
    <c:fmtId val="3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Distribution by satisfaction score</a:t>
            </a:r>
          </a:p>
        </c:rich>
      </c:tx>
      <c:layout>
        <c:manualLayout>
          <c:xMode val="edge"/>
          <c:yMode val="edge"/>
          <c:x val="0.13028478519974043"/>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Subjective!$F$423</c:f>
              <c:strCache>
                <c:ptCount val="1"/>
                <c:pt idx="0">
                  <c:v>Total</c:v>
                </c:pt>
              </c:strCache>
            </c:strRef>
          </c:tx>
          <c:spPr>
            <a:solidFill>
              <a:schemeClr val="accent3"/>
            </a:solidFill>
            <a:ln>
              <a:noFill/>
            </a:ln>
            <a:effectLst/>
          </c:spPr>
          <c:invertIfNegative val="0"/>
          <c:cat>
            <c:strRef>
              <c:f>Subjective!$E$424:$E$429</c:f>
              <c:strCache>
                <c:ptCount val="5"/>
                <c:pt idx="0">
                  <c:v>1</c:v>
                </c:pt>
                <c:pt idx="1">
                  <c:v>2</c:v>
                </c:pt>
                <c:pt idx="2">
                  <c:v>3</c:v>
                </c:pt>
                <c:pt idx="3">
                  <c:v>4</c:v>
                </c:pt>
                <c:pt idx="4">
                  <c:v>5</c:v>
                </c:pt>
              </c:strCache>
            </c:strRef>
          </c:cat>
          <c:val>
            <c:numRef>
              <c:f>Subjective!$F$424:$F$429</c:f>
              <c:numCache>
                <c:formatCode>General</c:formatCode>
                <c:ptCount val="5"/>
                <c:pt idx="0">
                  <c:v>9907</c:v>
                </c:pt>
                <c:pt idx="1">
                  <c:v>1977</c:v>
                </c:pt>
                <c:pt idx="2">
                  <c:v>7282</c:v>
                </c:pt>
                <c:pt idx="3">
                  <c:v>27562</c:v>
                </c:pt>
                <c:pt idx="4">
                  <c:v>50770</c:v>
                </c:pt>
              </c:numCache>
            </c:numRef>
          </c:val>
          <c:extLst>
            <c:ext xmlns:c16="http://schemas.microsoft.com/office/drawing/2014/chart" uri="{C3380CC4-5D6E-409C-BE32-E72D297353CC}">
              <c16:uniqueId val="{00000000-B8ED-4750-A6AA-9FC6655CC5E7}"/>
            </c:ext>
          </c:extLst>
        </c:ser>
        <c:dLbls>
          <c:showLegendKey val="0"/>
          <c:showVal val="0"/>
          <c:showCatName val="0"/>
          <c:showSerName val="0"/>
          <c:showPercent val="0"/>
          <c:showBubbleSize val="0"/>
        </c:dLbls>
        <c:gapWidth val="219"/>
        <c:overlap val="-27"/>
        <c:axId val="179056927"/>
        <c:axId val="179058847"/>
      </c:barChart>
      <c:catAx>
        <c:axId val="179056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058847"/>
        <c:crosses val="autoZero"/>
        <c:auto val="1"/>
        <c:lblAlgn val="ctr"/>
        <c:lblOffset val="100"/>
        <c:noMultiLvlLbl val="0"/>
      </c:catAx>
      <c:valAx>
        <c:axId val="1790588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0569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Tickets.xlsx]Subjective!PivotTable18</c:name>
    <c:fmtId val="10"/>
  </c:pivotSource>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a:t>Age group by satisfaction rate</a:t>
            </a:r>
          </a:p>
        </c:rich>
      </c:tx>
      <c:layout>
        <c:manualLayout>
          <c:xMode val="edge"/>
          <c:yMode val="edge"/>
          <c:x val="0.18389566929133858"/>
          <c:y val="2.7777777777777776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317500" algn="ctr" rotWithShape="0">
              <a:prstClr val="black">
                <a:alpha val="25000"/>
              </a:prst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2"/>
          </a:solidFill>
          <a:ln>
            <a:noFill/>
          </a:ln>
          <a:effectLst>
            <a:outerShdw blurRad="317500" algn="ctr" rotWithShape="0">
              <a:prstClr val="black">
                <a:alpha val="25000"/>
              </a:prstClr>
            </a:outerShdw>
          </a:effectLst>
        </c:spPr>
      </c:pivotFmt>
      <c:pivotFmt>
        <c:idx val="3"/>
        <c:spPr>
          <a:solidFill>
            <a:schemeClr val="accent2"/>
          </a:solidFill>
          <a:ln>
            <a:noFill/>
          </a:ln>
          <a:effectLst>
            <a:outerShdw blurRad="317500" algn="ctr" rotWithShape="0">
              <a:prstClr val="black">
                <a:alpha val="25000"/>
              </a:prstClr>
            </a:outerShdw>
          </a:effectLst>
        </c:spPr>
      </c:pivotFmt>
      <c:pivotFmt>
        <c:idx val="4"/>
        <c:spPr>
          <a:solidFill>
            <a:schemeClr val="accent2"/>
          </a:solidFill>
          <a:ln>
            <a:noFill/>
          </a:ln>
          <a:effectLst>
            <a:outerShdw blurRad="317500" algn="ctr" rotWithShape="0">
              <a:prstClr val="black">
                <a:alpha val="25000"/>
              </a:prstClr>
            </a:outerShdw>
          </a:effectLst>
        </c:spPr>
      </c:pivotFmt>
      <c:pivotFmt>
        <c:idx val="5"/>
        <c:spPr>
          <a:solidFill>
            <a:schemeClr val="accent2"/>
          </a:solidFill>
          <a:ln>
            <a:noFill/>
          </a:ln>
          <a:effectLst>
            <a:outerShdw blurRad="317500" algn="ctr" rotWithShape="0">
              <a:prstClr val="black">
                <a:alpha val="25000"/>
              </a:prstClr>
            </a:outerShdw>
          </a:effectLst>
        </c:spPr>
      </c:pivotFmt>
      <c:pivotFmt>
        <c:idx val="6"/>
        <c:spPr>
          <a:solidFill>
            <a:schemeClr val="accent2"/>
          </a:solidFill>
          <a:ln>
            <a:noFill/>
          </a:ln>
          <a:effectLst>
            <a:outerShdw blurRad="317500" algn="ctr" rotWithShape="0">
              <a:prstClr val="black">
                <a:alpha val="25000"/>
              </a:prstClr>
            </a:outerShdw>
          </a:effectLst>
        </c:spPr>
      </c:pivotFmt>
      <c:pivotFmt>
        <c:idx val="7"/>
        <c:spPr>
          <a:solidFill>
            <a:schemeClr val="accent2"/>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2"/>
          </a:solidFill>
          <a:ln>
            <a:noFill/>
          </a:ln>
          <a:effectLst>
            <a:outerShdw blurRad="317500" algn="ctr" rotWithShape="0">
              <a:prstClr val="black">
                <a:alpha val="25000"/>
              </a:prstClr>
            </a:outerShdw>
          </a:effectLst>
        </c:spPr>
      </c:pivotFmt>
      <c:pivotFmt>
        <c:idx val="9"/>
        <c:spPr>
          <a:solidFill>
            <a:schemeClr val="accent2"/>
          </a:solidFill>
          <a:ln>
            <a:noFill/>
          </a:ln>
          <a:effectLst>
            <a:outerShdw blurRad="317500" algn="ctr" rotWithShape="0">
              <a:prstClr val="black">
                <a:alpha val="25000"/>
              </a:prstClr>
            </a:outerShdw>
          </a:effectLst>
        </c:spPr>
      </c:pivotFmt>
      <c:pivotFmt>
        <c:idx val="10"/>
        <c:spPr>
          <a:solidFill>
            <a:schemeClr val="accent2"/>
          </a:solidFill>
          <a:ln>
            <a:noFill/>
          </a:ln>
          <a:effectLst>
            <a:outerShdw blurRad="317500" algn="ctr" rotWithShape="0">
              <a:prstClr val="black">
                <a:alpha val="25000"/>
              </a:prstClr>
            </a:outerShdw>
          </a:effectLst>
        </c:spPr>
      </c:pivotFmt>
      <c:pivotFmt>
        <c:idx val="11"/>
        <c:spPr>
          <a:solidFill>
            <a:schemeClr val="accent2"/>
          </a:solidFill>
          <a:ln>
            <a:noFill/>
          </a:ln>
          <a:effectLst>
            <a:outerShdw blurRad="317500" algn="ctr" rotWithShape="0">
              <a:prstClr val="black">
                <a:alpha val="25000"/>
              </a:prstClr>
            </a:outerShdw>
          </a:effectLst>
        </c:spPr>
      </c:pivotFmt>
      <c:pivotFmt>
        <c:idx val="12"/>
        <c:spPr>
          <a:solidFill>
            <a:schemeClr val="accent2"/>
          </a:solidFill>
          <a:ln>
            <a:noFill/>
          </a:ln>
          <a:effectLst>
            <a:outerShdw blurRad="317500" algn="ctr" rotWithShape="0">
              <a:prstClr val="black">
                <a:alpha val="25000"/>
              </a:prstClr>
            </a:outerShdw>
          </a:effectLst>
        </c:spPr>
      </c:pivotFmt>
      <c:pivotFmt>
        <c:idx val="13"/>
        <c:spPr>
          <a:solidFill>
            <a:schemeClr val="accent2"/>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4"/>
        <c:spPr>
          <a:solidFill>
            <a:schemeClr val="accent2"/>
          </a:solidFill>
          <a:ln>
            <a:noFill/>
          </a:ln>
          <a:effectLst>
            <a:outerShdw blurRad="317500" algn="ctr" rotWithShape="0">
              <a:prstClr val="black">
                <a:alpha val="25000"/>
              </a:prstClr>
            </a:outerShdw>
          </a:effectLst>
        </c:spPr>
      </c:pivotFmt>
      <c:pivotFmt>
        <c:idx val="15"/>
        <c:spPr>
          <a:solidFill>
            <a:schemeClr val="accent2"/>
          </a:solidFill>
          <a:ln>
            <a:noFill/>
          </a:ln>
          <a:effectLst>
            <a:outerShdw blurRad="317500" algn="ctr" rotWithShape="0">
              <a:prstClr val="black">
                <a:alpha val="25000"/>
              </a:prstClr>
            </a:outerShdw>
          </a:effectLst>
        </c:spPr>
      </c:pivotFmt>
      <c:pivotFmt>
        <c:idx val="16"/>
        <c:spPr>
          <a:solidFill>
            <a:schemeClr val="accent2"/>
          </a:solidFill>
          <a:ln>
            <a:noFill/>
          </a:ln>
          <a:effectLst>
            <a:outerShdw blurRad="317500" algn="ctr" rotWithShape="0">
              <a:prstClr val="black">
                <a:alpha val="25000"/>
              </a:prstClr>
            </a:outerShdw>
          </a:effectLst>
        </c:spPr>
      </c:pivotFmt>
      <c:pivotFmt>
        <c:idx val="17"/>
        <c:spPr>
          <a:solidFill>
            <a:schemeClr val="accent2"/>
          </a:solidFill>
          <a:ln>
            <a:noFill/>
          </a:ln>
          <a:effectLst>
            <a:outerShdw blurRad="317500" algn="ctr" rotWithShape="0">
              <a:prstClr val="black">
                <a:alpha val="25000"/>
              </a:prstClr>
            </a:outerShdw>
          </a:effectLst>
        </c:spPr>
      </c:pivotFmt>
      <c:pivotFmt>
        <c:idx val="18"/>
        <c:spPr>
          <a:solidFill>
            <a:schemeClr val="accent2"/>
          </a:solidFill>
          <a:ln>
            <a:noFill/>
          </a:ln>
          <a:effectLst>
            <a:outerShdw blurRad="317500" algn="ctr" rotWithShape="0">
              <a:prstClr val="black">
                <a:alpha val="25000"/>
              </a:prstClr>
            </a:outerShdw>
          </a:effectLst>
        </c:spPr>
      </c:pivotFmt>
      <c:pivotFmt>
        <c:idx val="19"/>
        <c:spPr>
          <a:solidFill>
            <a:schemeClr val="accent2"/>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20"/>
        <c:spPr>
          <a:solidFill>
            <a:schemeClr val="accent2"/>
          </a:solidFill>
          <a:ln>
            <a:noFill/>
          </a:ln>
          <a:effectLst>
            <a:outerShdw blurRad="317500" algn="ctr" rotWithShape="0">
              <a:prstClr val="black">
                <a:alpha val="25000"/>
              </a:prstClr>
            </a:outerShdw>
          </a:effectLst>
        </c:spPr>
      </c:pivotFmt>
      <c:pivotFmt>
        <c:idx val="21"/>
        <c:spPr>
          <a:solidFill>
            <a:schemeClr val="accent2"/>
          </a:solidFill>
          <a:ln>
            <a:noFill/>
          </a:ln>
          <a:effectLst>
            <a:outerShdw blurRad="317500" algn="ctr" rotWithShape="0">
              <a:prstClr val="black">
                <a:alpha val="25000"/>
              </a:prstClr>
            </a:outerShdw>
          </a:effectLst>
        </c:spPr>
      </c:pivotFmt>
      <c:pivotFmt>
        <c:idx val="22"/>
        <c:spPr>
          <a:solidFill>
            <a:schemeClr val="accent2"/>
          </a:solidFill>
          <a:ln>
            <a:noFill/>
          </a:ln>
          <a:effectLst>
            <a:outerShdw blurRad="317500" algn="ctr" rotWithShape="0">
              <a:prstClr val="black">
                <a:alpha val="25000"/>
              </a:prstClr>
            </a:outerShdw>
          </a:effectLst>
        </c:spPr>
      </c:pivotFmt>
      <c:pivotFmt>
        <c:idx val="23"/>
        <c:spPr>
          <a:solidFill>
            <a:schemeClr val="accent2"/>
          </a:solidFill>
          <a:ln>
            <a:noFill/>
          </a:ln>
          <a:effectLst>
            <a:outerShdw blurRad="317500" algn="ctr" rotWithShape="0">
              <a:prstClr val="black">
                <a:alpha val="25000"/>
              </a:prstClr>
            </a:outerShdw>
          </a:effectLst>
        </c:spPr>
      </c:pivotFmt>
      <c:pivotFmt>
        <c:idx val="24"/>
        <c:spPr>
          <a:solidFill>
            <a:schemeClr val="accent2"/>
          </a:solidFill>
          <a:ln>
            <a:noFill/>
          </a:ln>
          <a:effectLst>
            <a:outerShdw blurRad="317500" algn="ctr" rotWithShape="0">
              <a:prstClr val="black">
                <a:alpha val="25000"/>
              </a:prstClr>
            </a:outerShdw>
          </a:effectLst>
        </c:spPr>
      </c:pivotFmt>
    </c:pivotFmts>
    <c:plotArea>
      <c:layout/>
      <c:pieChart>
        <c:varyColors val="1"/>
        <c:ser>
          <c:idx val="0"/>
          <c:order val="0"/>
          <c:tx>
            <c:strRef>
              <c:f>Subjective!$B$423</c:f>
              <c:strCache>
                <c:ptCount val="1"/>
                <c:pt idx="0">
                  <c:v>Total</c:v>
                </c:pt>
              </c:strCache>
            </c:strRef>
          </c:tx>
          <c:dPt>
            <c:idx val="0"/>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D433-4444-8E35-E649C958D6CC}"/>
              </c:ext>
            </c:extLst>
          </c:dPt>
          <c:dPt>
            <c:idx val="1"/>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D433-4444-8E35-E649C958D6CC}"/>
              </c:ext>
            </c:extLst>
          </c:dPt>
          <c:dPt>
            <c:idx val="2"/>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D433-4444-8E35-E649C958D6CC}"/>
              </c:ext>
            </c:extLst>
          </c:dPt>
          <c:dPt>
            <c:idx val="3"/>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D433-4444-8E35-E649C958D6CC}"/>
              </c:ext>
            </c:extLst>
          </c:dPt>
          <c:dPt>
            <c:idx val="4"/>
            <c:bubble3D val="0"/>
            <c:spPr>
              <a:solidFill>
                <a:schemeClr val="accent4">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D433-4444-8E35-E649C958D6CC}"/>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Subjective!$A$424:$A$429</c:f>
              <c:strCache>
                <c:ptCount val="5"/>
                <c:pt idx="0">
                  <c:v>30-34</c:v>
                </c:pt>
                <c:pt idx="1">
                  <c:v>35-39</c:v>
                </c:pt>
                <c:pt idx="2">
                  <c:v>40-44</c:v>
                </c:pt>
                <c:pt idx="3">
                  <c:v>45-49</c:v>
                </c:pt>
                <c:pt idx="4">
                  <c:v>50-55</c:v>
                </c:pt>
              </c:strCache>
            </c:strRef>
          </c:cat>
          <c:val>
            <c:numRef>
              <c:f>Subjective!$B$424:$B$429</c:f>
              <c:numCache>
                <c:formatCode>0.00</c:formatCode>
                <c:ptCount val="5"/>
                <c:pt idx="0">
                  <c:v>4.4290763531065025</c:v>
                </c:pt>
                <c:pt idx="1">
                  <c:v>4.8400411469718403</c:v>
                </c:pt>
                <c:pt idx="2">
                  <c:v>4.589205204173644</c:v>
                </c:pt>
                <c:pt idx="3">
                  <c:v>4.7831263733455973</c:v>
                </c:pt>
                <c:pt idx="4">
                  <c:v>4.1116451964365828</c:v>
                </c:pt>
              </c:numCache>
            </c:numRef>
          </c:val>
          <c:extLst>
            <c:ext xmlns:c16="http://schemas.microsoft.com/office/drawing/2014/chart" uri="{C3380CC4-5D6E-409C-BE32-E72D297353CC}">
              <c16:uniqueId val="{0000000A-D433-4444-8E35-E649C958D6CC}"/>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Tickets.xlsx]Subjective!PivotTable7</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Employee</a:t>
            </a:r>
            <a:r>
              <a:rPr lang="en-IN" baseline="0"/>
              <a:t> Performance W.R.T Count of ID tickets &amp; Resolution time</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6999479647496183E-2"/>
          <c:y val="0.13241465471960148"/>
          <c:w val="0.70707867134517188"/>
          <c:h val="0.62310182969100081"/>
        </c:manualLayout>
      </c:layout>
      <c:lineChart>
        <c:grouping val="standard"/>
        <c:varyColors val="0"/>
        <c:ser>
          <c:idx val="0"/>
          <c:order val="0"/>
          <c:tx>
            <c:strRef>
              <c:f>Subjective!$B$99</c:f>
              <c:strCache>
                <c:ptCount val="1"/>
                <c:pt idx="0">
                  <c:v>Count of ID Ticket</c:v>
                </c:pt>
              </c:strCache>
            </c:strRef>
          </c:tx>
          <c:spPr>
            <a:ln w="28575" cap="rnd">
              <a:solidFill>
                <a:schemeClr val="accent1"/>
              </a:solidFill>
              <a:round/>
            </a:ln>
            <a:effectLst/>
          </c:spPr>
          <c:marker>
            <c:symbol val="none"/>
          </c:marker>
          <c:cat>
            <c:multiLvlStrRef>
              <c:f>Subjective!$A$100:$A$165</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Subjective!$B$100:$B$165</c:f>
              <c:numCache>
                <c:formatCode>General</c:formatCode>
                <c:ptCount val="60"/>
                <c:pt idx="0">
                  <c:v>1115</c:v>
                </c:pt>
                <c:pt idx="1">
                  <c:v>1056</c:v>
                </c:pt>
                <c:pt idx="2">
                  <c:v>1105</c:v>
                </c:pt>
                <c:pt idx="3">
                  <c:v>1054</c:v>
                </c:pt>
                <c:pt idx="4">
                  <c:v>1160</c:v>
                </c:pt>
                <c:pt idx="5">
                  <c:v>1051</c:v>
                </c:pt>
                <c:pt idx="6">
                  <c:v>1101</c:v>
                </c:pt>
                <c:pt idx="7">
                  <c:v>1090</c:v>
                </c:pt>
                <c:pt idx="8">
                  <c:v>1061</c:v>
                </c:pt>
                <c:pt idx="9">
                  <c:v>1088</c:v>
                </c:pt>
                <c:pt idx="10">
                  <c:v>1046</c:v>
                </c:pt>
                <c:pt idx="11">
                  <c:v>1124</c:v>
                </c:pt>
                <c:pt idx="12">
                  <c:v>1125</c:v>
                </c:pt>
                <c:pt idx="13">
                  <c:v>1151</c:v>
                </c:pt>
                <c:pt idx="14">
                  <c:v>1283</c:v>
                </c:pt>
                <c:pt idx="15">
                  <c:v>1245</c:v>
                </c:pt>
                <c:pt idx="16">
                  <c:v>1345</c:v>
                </c:pt>
                <c:pt idx="17">
                  <c:v>1244</c:v>
                </c:pt>
                <c:pt idx="18">
                  <c:v>1233</c:v>
                </c:pt>
                <c:pt idx="19">
                  <c:v>1259</c:v>
                </c:pt>
                <c:pt idx="20">
                  <c:v>1225</c:v>
                </c:pt>
                <c:pt idx="21">
                  <c:v>1305</c:v>
                </c:pt>
                <c:pt idx="22">
                  <c:v>1243</c:v>
                </c:pt>
                <c:pt idx="23">
                  <c:v>1257</c:v>
                </c:pt>
                <c:pt idx="24">
                  <c:v>1289</c:v>
                </c:pt>
                <c:pt idx="25">
                  <c:v>1507</c:v>
                </c:pt>
                <c:pt idx="26">
                  <c:v>1470</c:v>
                </c:pt>
                <c:pt idx="27">
                  <c:v>1627</c:v>
                </c:pt>
                <c:pt idx="28">
                  <c:v>1653</c:v>
                </c:pt>
                <c:pt idx="29">
                  <c:v>1656</c:v>
                </c:pt>
                <c:pt idx="30">
                  <c:v>1620</c:v>
                </c:pt>
                <c:pt idx="31">
                  <c:v>1669</c:v>
                </c:pt>
                <c:pt idx="32">
                  <c:v>1638</c:v>
                </c:pt>
                <c:pt idx="33">
                  <c:v>1660</c:v>
                </c:pt>
                <c:pt idx="34">
                  <c:v>1626</c:v>
                </c:pt>
                <c:pt idx="35">
                  <c:v>1539</c:v>
                </c:pt>
                <c:pt idx="36">
                  <c:v>1522</c:v>
                </c:pt>
                <c:pt idx="37">
                  <c:v>1746</c:v>
                </c:pt>
                <c:pt idx="38">
                  <c:v>1846</c:v>
                </c:pt>
                <c:pt idx="39">
                  <c:v>1598</c:v>
                </c:pt>
                <c:pt idx="40">
                  <c:v>1734</c:v>
                </c:pt>
                <c:pt idx="41">
                  <c:v>1820</c:v>
                </c:pt>
                <c:pt idx="42">
                  <c:v>1885</c:v>
                </c:pt>
                <c:pt idx="43">
                  <c:v>1905</c:v>
                </c:pt>
                <c:pt idx="44">
                  <c:v>1856</c:v>
                </c:pt>
                <c:pt idx="45">
                  <c:v>1875</c:v>
                </c:pt>
                <c:pt idx="46">
                  <c:v>1831</c:v>
                </c:pt>
                <c:pt idx="47">
                  <c:v>1872</c:v>
                </c:pt>
                <c:pt idx="48">
                  <c:v>2191</c:v>
                </c:pt>
                <c:pt idx="49">
                  <c:v>2441</c:v>
                </c:pt>
                <c:pt idx="50">
                  <c:v>2524</c:v>
                </c:pt>
                <c:pt idx="51">
                  <c:v>2413</c:v>
                </c:pt>
                <c:pt idx="52">
                  <c:v>2229</c:v>
                </c:pt>
                <c:pt idx="53">
                  <c:v>2370</c:v>
                </c:pt>
                <c:pt idx="54">
                  <c:v>2231</c:v>
                </c:pt>
                <c:pt idx="55">
                  <c:v>2566</c:v>
                </c:pt>
                <c:pt idx="56">
                  <c:v>2439</c:v>
                </c:pt>
                <c:pt idx="57">
                  <c:v>2567</c:v>
                </c:pt>
                <c:pt idx="58">
                  <c:v>2508</c:v>
                </c:pt>
                <c:pt idx="59">
                  <c:v>2609</c:v>
                </c:pt>
              </c:numCache>
            </c:numRef>
          </c:val>
          <c:smooth val="0"/>
          <c:extLst>
            <c:ext xmlns:c16="http://schemas.microsoft.com/office/drawing/2014/chart" uri="{C3380CC4-5D6E-409C-BE32-E72D297353CC}">
              <c16:uniqueId val="{00000000-1CB0-4845-8BBB-14C9DED8F8DF}"/>
            </c:ext>
          </c:extLst>
        </c:ser>
        <c:dLbls>
          <c:showLegendKey val="0"/>
          <c:showVal val="0"/>
          <c:showCatName val="0"/>
          <c:showSerName val="0"/>
          <c:showPercent val="0"/>
          <c:showBubbleSize val="0"/>
        </c:dLbls>
        <c:marker val="1"/>
        <c:smooth val="0"/>
        <c:axId val="1823494415"/>
        <c:axId val="1823496335"/>
      </c:lineChart>
      <c:lineChart>
        <c:grouping val="standard"/>
        <c:varyColors val="0"/>
        <c:ser>
          <c:idx val="1"/>
          <c:order val="1"/>
          <c:tx>
            <c:strRef>
              <c:f>Subjective!$C$99</c:f>
              <c:strCache>
                <c:ptCount val="1"/>
                <c:pt idx="0">
                  <c:v>Average of Resolution Time (Days)</c:v>
                </c:pt>
              </c:strCache>
            </c:strRef>
          </c:tx>
          <c:spPr>
            <a:ln w="28575" cap="rnd">
              <a:solidFill>
                <a:schemeClr val="accent2"/>
              </a:solidFill>
              <a:round/>
            </a:ln>
            <a:effectLst/>
          </c:spPr>
          <c:marker>
            <c:symbol val="none"/>
          </c:marker>
          <c:cat>
            <c:multiLvlStrRef>
              <c:f>Subjective!$A$100:$A$165</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Subjective!$C$100:$C$165</c:f>
              <c:numCache>
                <c:formatCode>General</c:formatCode>
                <c:ptCount val="60"/>
                <c:pt idx="0">
                  <c:v>4.565022421524664</c:v>
                </c:pt>
                <c:pt idx="1">
                  <c:v>4.5965909090909092</c:v>
                </c:pt>
                <c:pt idx="2">
                  <c:v>4.4823529411764707</c:v>
                </c:pt>
                <c:pt idx="3">
                  <c:v>4.5815939278937385</c:v>
                </c:pt>
                <c:pt idx="4">
                  <c:v>4.6836206896551724</c:v>
                </c:pt>
                <c:pt idx="5">
                  <c:v>4.59372026641294</c:v>
                </c:pt>
                <c:pt idx="6">
                  <c:v>4.6857402361489555</c:v>
                </c:pt>
                <c:pt idx="7">
                  <c:v>4.4486238532110089</c:v>
                </c:pt>
                <c:pt idx="8">
                  <c:v>4.4882186616399622</c:v>
                </c:pt>
                <c:pt idx="9">
                  <c:v>4.5110294117647056</c:v>
                </c:pt>
                <c:pt idx="10">
                  <c:v>4.5353728489483744</c:v>
                </c:pt>
                <c:pt idx="11">
                  <c:v>4.4448398576512451</c:v>
                </c:pt>
                <c:pt idx="12">
                  <c:v>4.7795555555555556</c:v>
                </c:pt>
                <c:pt idx="13">
                  <c:v>4.4995655951346656</c:v>
                </c:pt>
                <c:pt idx="14">
                  <c:v>4.4247856586126266</c:v>
                </c:pt>
                <c:pt idx="15">
                  <c:v>4.5068273092369475</c:v>
                </c:pt>
                <c:pt idx="16">
                  <c:v>4.4981412639405205</c:v>
                </c:pt>
                <c:pt idx="17">
                  <c:v>4.502411575562701</c:v>
                </c:pt>
                <c:pt idx="18">
                  <c:v>4.4014598540145986</c:v>
                </c:pt>
                <c:pt idx="19">
                  <c:v>4.725178713264496</c:v>
                </c:pt>
                <c:pt idx="20">
                  <c:v>4.4579591836734691</c:v>
                </c:pt>
                <c:pt idx="21">
                  <c:v>4.5195402298850578</c:v>
                </c:pt>
                <c:pt idx="22">
                  <c:v>4.6484312148028959</c:v>
                </c:pt>
                <c:pt idx="23">
                  <c:v>4.4216388225934766</c:v>
                </c:pt>
                <c:pt idx="24">
                  <c:v>4.4577191621411947</c:v>
                </c:pt>
                <c:pt idx="25">
                  <c:v>4.5494359654943599</c:v>
                </c:pt>
                <c:pt idx="26">
                  <c:v>4.6340136054421768</c:v>
                </c:pt>
                <c:pt idx="27">
                  <c:v>4.6410571604179474</c:v>
                </c:pt>
                <c:pt idx="28">
                  <c:v>4.6291591046581972</c:v>
                </c:pt>
                <c:pt idx="29">
                  <c:v>4.6823671497584538</c:v>
                </c:pt>
                <c:pt idx="30">
                  <c:v>4.5370370370370372</c:v>
                </c:pt>
                <c:pt idx="31">
                  <c:v>4.3702816057519476</c:v>
                </c:pt>
                <c:pt idx="32">
                  <c:v>4.5927960927960925</c:v>
                </c:pt>
                <c:pt idx="33">
                  <c:v>4.5024096385542167</c:v>
                </c:pt>
                <c:pt idx="34">
                  <c:v>4.4600246002460029</c:v>
                </c:pt>
                <c:pt idx="35">
                  <c:v>4.640025990903184</c:v>
                </c:pt>
                <c:pt idx="36">
                  <c:v>4.5624178712220766</c:v>
                </c:pt>
                <c:pt idx="37">
                  <c:v>4.6529209621993131</c:v>
                </c:pt>
                <c:pt idx="38">
                  <c:v>4.4544962080173347</c:v>
                </c:pt>
                <c:pt idx="39">
                  <c:v>4.5043804755944929</c:v>
                </c:pt>
                <c:pt idx="40">
                  <c:v>4.4186851211072664</c:v>
                </c:pt>
                <c:pt idx="41">
                  <c:v>4.5785714285714283</c:v>
                </c:pt>
                <c:pt idx="42">
                  <c:v>4.4859416445623346</c:v>
                </c:pt>
                <c:pt idx="43">
                  <c:v>4.5317585301837271</c:v>
                </c:pt>
                <c:pt idx="44">
                  <c:v>4.4698275862068968</c:v>
                </c:pt>
                <c:pt idx="45">
                  <c:v>4.6688000000000001</c:v>
                </c:pt>
                <c:pt idx="46">
                  <c:v>4.410158383397051</c:v>
                </c:pt>
                <c:pt idx="47">
                  <c:v>4.5160256410256414</c:v>
                </c:pt>
                <c:pt idx="48">
                  <c:v>4.5554541305340024</c:v>
                </c:pt>
                <c:pt idx="49">
                  <c:v>4.5977058582548134</c:v>
                </c:pt>
                <c:pt idx="50">
                  <c:v>4.687797147385103</c:v>
                </c:pt>
                <c:pt idx="51">
                  <c:v>4.5681723995026937</c:v>
                </c:pt>
                <c:pt idx="52">
                  <c:v>4.5966801256168681</c:v>
                </c:pt>
                <c:pt idx="53">
                  <c:v>4.6801687763713078</c:v>
                </c:pt>
                <c:pt idx="54">
                  <c:v>4.6450022411474672</c:v>
                </c:pt>
                <c:pt idx="55">
                  <c:v>4.4816835541699147</c:v>
                </c:pt>
                <c:pt idx="56">
                  <c:v>4.4940549405494057</c:v>
                </c:pt>
                <c:pt idx="57">
                  <c:v>4.5687573042462022</c:v>
                </c:pt>
                <c:pt idx="58">
                  <c:v>4.5207336523125994</c:v>
                </c:pt>
                <c:pt idx="59">
                  <c:v>4.640858566500575</c:v>
                </c:pt>
              </c:numCache>
            </c:numRef>
          </c:val>
          <c:smooth val="0"/>
          <c:extLst>
            <c:ext xmlns:c16="http://schemas.microsoft.com/office/drawing/2014/chart" uri="{C3380CC4-5D6E-409C-BE32-E72D297353CC}">
              <c16:uniqueId val="{00000001-1CB0-4845-8BBB-14C9DED8F8DF}"/>
            </c:ext>
          </c:extLst>
        </c:ser>
        <c:dLbls>
          <c:showLegendKey val="0"/>
          <c:showVal val="0"/>
          <c:showCatName val="0"/>
          <c:showSerName val="0"/>
          <c:showPercent val="0"/>
          <c:showBubbleSize val="0"/>
        </c:dLbls>
        <c:marker val="1"/>
        <c:smooth val="0"/>
        <c:axId val="1647843824"/>
        <c:axId val="1647839984"/>
      </c:lineChart>
      <c:catAx>
        <c:axId val="1823494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23496335"/>
        <c:crosses val="autoZero"/>
        <c:auto val="1"/>
        <c:lblAlgn val="ctr"/>
        <c:lblOffset val="100"/>
        <c:noMultiLvlLbl val="0"/>
      </c:catAx>
      <c:valAx>
        <c:axId val="18234963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23494415"/>
        <c:crosses val="autoZero"/>
        <c:crossBetween val="between"/>
      </c:valAx>
      <c:valAx>
        <c:axId val="1647839984"/>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47843824"/>
        <c:crosses val="max"/>
        <c:crossBetween val="between"/>
      </c:valAx>
      <c:catAx>
        <c:axId val="1647843824"/>
        <c:scaling>
          <c:orientation val="minMax"/>
        </c:scaling>
        <c:delete val="1"/>
        <c:axPos val="b"/>
        <c:numFmt formatCode="General" sourceLinked="1"/>
        <c:majorTickMark val="out"/>
        <c:minorTickMark val="none"/>
        <c:tickLblPos val="nextTo"/>
        <c:crossAx val="1647839984"/>
        <c:crosses val="autoZero"/>
        <c:auto val="1"/>
        <c:lblAlgn val="ctr"/>
        <c:lblOffset val="100"/>
        <c:noMultiLvlLbl val="0"/>
      </c:catAx>
      <c:spPr>
        <a:noFill/>
        <a:ln>
          <a:noFill/>
        </a:ln>
        <a:effectLst/>
      </c:spPr>
    </c:plotArea>
    <c:legend>
      <c:legendPos val="r"/>
      <c:layout>
        <c:manualLayout>
          <c:xMode val="edge"/>
          <c:yMode val="edge"/>
          <c:x val="0.8183172451536358"/>
          <c:y val="0.25865850741636809"/>
          <c:w val="0.17625184552896997"/>
          <c:h val="0.4350864447446879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Tickets.xlsx]Subjective!PivotTable21</c:name>
    <c:fmtId val="3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Distribution by Resolution</a:t>
            </a:r>
            <a:r>
              <a:rPr lang="en-US" baseline="0"/>
              <a:t> Time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Subjective!$I$423</c:f>
              <c:strCache>
                <c:ptCount val="1"/>
                <c:pt idx="0">
                  <c:v>Total</c:v>
                </c:pt>
              </c:strCache>
            </c:strRef>
          </c:tx>
          <c:spPr>
            <a:ln w="28575" cap="rnd">
              <a:solidFill>
                <a:schemeClr val="accent6"/>
              </a:solidFill>
              <a:round/>
            </a:ln>
            <a:effectLst/>
          </c:spPr>
          <c:marker>
            <c:symbol val="none"/>
          </c:marker>
          <c:cat>
            <c:strRef>
              <c:f>Subjective!$H$424:$H$431</c:f>
              <c:strCache>
                <c:ptCount val="7"/>
                <c:pt idx="0">
                  <c:v>0-2</c:v>
                </c:pt>
                <c:pt idx="1">
                  <c:v>3-5</c:v>
                </c:pt>
                <c:pt idx="2">
                  <c:v>6-8</c:v>
                </c:pt>
                <c:pt idx="3">
                  <c:v>9-11</c:v>
                </c:pt>
                <c:pt idx="4">
                  <c:v>12-14</c:v>
                </c:pt>
                <c:pt idx="5">
                  <c:v>15-17</c:v>
                </c:pt>
                <c:pt idx="6">
                  <c:v>18-21</c:v>
                </c:pt>
              </c:strCache>
            </c:strRef>
          </c:cat>
          <c:val>
            <c:numRef>
              <c:f>Subjective!$I$424:$I$431</c:f>
              <c:numCache>
                <c:formatCode>General</c:formatCode>
                <c:ptCount val="7"/>
                <c:pt idx="0">
                  <c:v>40814</c:v>
                </c:pt>
                <c:pt idx="1">
                  <c:v>19908</c:v>
                </c:pt>
                <c:pt idx="2">
                  <c:v>19234</c:v>
                </c:pt>
                <c:pt idx="3">
                  <c:v>9370</c:v>
                </c:pt>
                <c:pt idx="4">
                  <c:v>4833</c:v>
                </c:pt>
                <c:pt idx="5">
                  <c:v>3081</c:v>
                </c:pt>
                <c:pt idx="6">
                  <c:v>258</c:v>
                </c:pt>
              </c:numCache>
            </c:numRef>
          </c:val>
          <c:smooth val="0"/>
          <c:extLst>
            <c:ext xmlns:c16="http://schemas.microsoft.com/office/drawing/2014/chart" uri="{C3380CC4-5D6E-409C-BE32-E72D297353CC}">
              <c16:uniqueId val="{00000000-86B2-408C-B4CB-DC22975EC333}"/>
            </c:ext>
          </c:extLst>
        </c:ser>
        <c:dLbls>
          <c:showLegendKey val="0"/>
          <c:showVal val="0"/>
          <c:showCatName val="0"/>
          <c:showSerName val="0"/>
          <c:showPercent val="0"/>
          <c:showBubbleSize val="0"/>
        </c:dLbls>
        <c:smooth val="0"/>
        <c:axId val="448115391"/>
        <c:axId val="448114431"/>
      </c:lineChart>
      <c:catAx>
        <c:axId val="448115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8114431"/>
        <c:crosses val="autoZero"/>
        <c:auto val="1"/>
        <c:lblAlgn val="ctr"/>
        <c:lblOffset val="100"/>
        <c:noMultiLvlLbl val="0"/>
      </c:catAx>
      <c:valAx>
        <c:axId val="4481144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81153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Satisfaction Rate Of Employee Throught the Time</a:t>
            </a:r>
            <a:r>
              <a:rPr lang="en-IN" baseline="0"/>
              <a:t> Period</a:t>
            </a:r>
            <a:endParaRPr lang="en-IN"/>
          </a:p>
        </c:rich>
      </c:tx>
      <c:layout>
        <c:manualLayout>
          <c:xMode val="edge"/>
          <c:yMode val="edge"/>
          <c:x val="0.18799721852931969"/>
          <c:y val="2.609649303056313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Count of ID Ticket</c:v>
          </c:tx>
          <c:spPr>
            <a:solidFill>
              <a:schemeClr val="accent1"/>
            </a:solidFill>
            <a:ln>
              <a:noFill/>
            </a:ln>
            <a:effectLst/>
          </c:spPr>
          <c:invertIfNegative val="0"/>
          <c:cat>
            <c:strLit>
              <c:ptCount val="60"/>
              <c:pt idx="0">
                <c:v>2016 May</c:v>
              </c:pt>
              <c:pt idx="1">
                <c:v>2016 Dec</c:v>
              </c:pt>
              <c:pt idx="2">
                <c:v>2016 Jan</c:v>
              </c:pt>
              <c:pt idx="3">
                <c:v>2016 Mar</c:v>
              </c:pt>
              <c:pt idx="4">
                <c:v>2016 Jul</c:v>
              </c:pt>
              <c:pt idx="5">
                <c:v>2016 Aug</c:v>
              </c:pt>
              <c:pt idx="6">
                <c:v>2016 Oct</c:v>
              </c:pt>
              <c:pt idx="7">
                <c:v>2016 Sep</c:v>
              </c:pt>
              <c:pt idx="8">
                <c:v>2016 Feb</c:v>
              </c:pt>
              <c:pt idx="9">
                <c:v>2016 Apr</c:v>
              </c:pt>
              <c:pt idx="10">
                <c:v>2016 Jun</c:v>
              </c:pt>
              <c:pt idx="11">
                <c:v>2016 Nov</c:v>
              </c:pt>
              <c:pt idx="12">
                <c:v>2017 May</c:v>
              </c:pt>
              <c:pt idx="13">
                <c:v>2017 Oct</c:v>
              </c:pt>
              <c:pt idx="14">
                <c:v>2017 Mar</c:v>
              </c:pt>
              <c:pt idx="15">
                <c:v>2017 Aug</c:v>
              </c:pt>
              <c:pt idx="16">
                <c:v>2017 Dec</c:v>
              </c:pt>
              <c:pt idx="17">
                <c:v>2017 Apr</c:v>
              </c:pt>
              <c:pt idx="18">
                <c:v>2017 Jun</c:v>
              </c:pt>
              <c:pt idx="19">
                <c:v>2017 Nov</c:v>
              </c:pt>
              <c:pt idx="20">
                <c:v>2017 Jul</c:v>
              </c:pt>
              <c:pt idx="21">
                <c:v>2017 Sep</c:v>
              </c:pt>
              <c:pt idx="22">
                <c:v>2017 Feb</c:v>
              </c:pt>
              <c:pt idx="23">
                <c:v>2017 Jan</c:v>
              </c:pt>
              <c:pt idx="24">
                <c:v>2018 Aug</c:v>
              </c:pt>
              <c:pt idx="25">
                <c:v>2018 Oct</c:v>
              </c:pt>
              <c:pt idx="26">
                <c:v>2018 Jun</c:v>
              </c:pt>
              <c:pt idx="27">
                <c:v>2018 May</c:v>
              </c:pt>
              <c:pt idx="28">
                <c:v>2018 Sep</c:v>
              </c:pt>
              <c:pt idx="29">
                <c:v>2018 Apr</c:v>
              </c:pt>
              <c:pt idx="30">
                <c:v>2018 Nov</c:v>
              </c:pt>
              <c:pt idx="31">
                <c:v>2018 Jul</c:v>
              </c:pt>
              <c:pt idx="32">
                <c:v>2018 Dec</c:v>
              </c:pt>
              <c:pt idx="33">
                <c:v>2018 Feb</c:v>
              </c:pt>
              <c:pt idx="34">
                <c:v>2018 Mar</c:v>
              </c:pt>
              <c:pt idx="35">
                <c:v>2018 Jan</c:v>
              </c:pt>
              <c:pt idx="36">
                <c:v>2019 Aug</c:v>
              </c:pt>
              <c:pt idx="37">
                <c:v>2019 Jul</c:v>
              </c:pt>
              <c:pt idx="38">
                <c:v>2019 Oct</c:v>
              </c:pt>
              <c:pt idx="39">
                <c:v>2019 Dec</c:v>
              </c:pt>
              <c:pt idx="40">
                <c:v>2019 Sep</c:v>
              </c:pt>
              <c:pt idx="41">
                <c:v>2019 Mar</c:v>
              </c:pt>
              <c:pt idx="42">
                <c:v>2019 Nov</c:v>
              </c:pt>
              <c:pt idx="43">
                <c:v>2019 Jun</c:v>
              </c:pt>
              <c:pt idx="44">
                <c:v>2019 Feb</c:v>
              </c:pt>
              <c:pt idx="45">
                <c:v>2019 May</c:v>
              </c:pt>
              <c:pt idx="46">
                <c:v>2019 Apr</c:v>
              </c:pt>
              <c:pt idx="47">
                <c:v>2019 Jan</c:v>
              </c:pt>
              <c:pt idx="48">
                <c:v>2020 Dec</c:v>
              </c:pt>
              <c:pt idx="49">
                <c:v>2020 Oct</c:v>
              </c:pt>
              <c:pt idx="50">
                <c:v>2020 Aug</c:v>
              </c:pt>
              <c:pt idx="51">
                <c:v>2020 Mar</c:v>
              </c:pt>
              <c:pt idx="52">
                <c:v>2020 Nov</c:v>
              </c:pt>
              <c:pt idx="53">
                <c:v>2020 Feb</c:v>
              </c:pt>
              <c:pt idx="54">
                <c:v>2020 Sep</c:v>
              </c:pt>
              <c:pt idx="55">
                <c:v>2020 Apr</c:v>
              </c:pt>
              <c:pt idx="56">
                <c:v>2020 Jun</c:v>
              </c:pt>
              <c:pt idx="57">
                <c:v>2020 Jul</c:v>
              </c:pt>
              <c:pt idx="58">
                <c:v>2020 May</c:v>
              </c:pt>
              <c:pt idx="59">
                <c:v>2020 Jan</c:v>
              </c:pt>
            </c:strLit>
          </c:cat>
          <c:val>
            <c:numLit>
              <c:formatCode>General</c:formatCode>
              <c:ptCount val="60"/>
              <c:pt idx="0">
                <c:v>1160</c:v>
              </c:pt>
              <c:pt idx="1">
                <c:v>1124</c:v>
              </c:pt>
              <c:pt idx="2">
                <c:v>1115</c:v>
              </c:pt>
              <c:pt idx="3">
                <c:v>1105</c:v>
              </c:pt>
              <c:pt idx="4">
                <c:v>1101</c:v>
              </c:pt>
              <c:pt idx="5">
                <c:v>1090</c:v>
              </c:pt>
              <c:pt idx="6">
                <c:v>1088</c:v>
              </c:pt>
              <c:pt idx="7">
                <c:v>1061</c:v>
              </c:pt>
              <c:pt idx="8">
                <c:v>1056</c:v>
              </c:pt>
              <c:pt idx="9">
                <c:v>1054</c:v>
              </c:pt>
              <c:pt idx="10">
                <c:v>1051</c:v>
              </c:pt>
              <c:pt idx="11">
                <c:v>1046</c:v>
              </c:pt>
              <c:pt idx="12">
                <c:v>1345</c:v>
              </c:pt>
              <c:pt idx="13">
                <c:v>1305</c:v>
              </c:pt>
              <c:pt idx="14">
                <c:v>1283</c:v>
              </c:pt>
              <c:pt idx="15">
                <c:v>1259</c:v>
              </c:pt>
              <c:pt idx="16">
                <c:v>1257</c:v>
              </c:pt>
              <c:pt idx="17">
                <c:v>1245</c:v>
              </c:pt>
              <c:pt idx="18">
                <c:v>1244</c:v>
              </c:pt>
              <c:pt idx="19">
                <c:v>1243</c:v>
              </c:pt>
              <c:pt idx="20">
                <c:v>1233</c:v>
              </c:pt>
              <c:pt idx="21">
                <c:v>1225</c:v>
              </c:pt>
              <c:pt idx="22">
                <c:v>1151</c:v>
              </c:pt>
              <c:pt idx="23">
                <c:v>1125</c:v>
              </c:pt>
              <c:pt idx="24">
                <c:v>1669</c:v>
              </c:pt>
              <c:pt idx="25">
                <c:v>1660</c:v>
              </c:pt>
              <c:pt idx="26">
                <c:v>1656</c:v>
              </c:pt>
              <c:pt idx="27">
                <c:v>1653</c:v>
              </c:pt>
              <c:pt idx="28">
                <c:v>1638</c:v>
              </c:pt>
              <c:pt idx="29">
                <c:v>1627</c:v>
              </c:pt>
              <c:pt idx="30">
                <c:v>1626</c:v>
              </c:pt>
              <c:pt idx="31">
                <c:v>1620</c:v>
              </c:pt>
              <c:pt idx="32">
                <c:v>1539</c:v>
              </c:pt>
              <c:pt idx="33">
                <c:v>1507</c:v>
              </c:pt>
              <c:pt idx="34">
                <c:v>1470</c:v>
              </c:pt>
              <c:pt idx="35">
                <c:v>1289</c:v>
              </c:pt>
              <c:pt idx="36">
                <c:v>1905</c:v>
              </c:pt>
              <c:pt idx="37">
                <c:v>1885</c:v>
              </c:pt>
              <c:pt idx="38">
                <c:v>1875</c:v>
              </c:pt>
              <c:pt idx="39">
                <c:v>1872</c:v>
              </c:pt>
              <c:pt idx="40">
                <c:v>1856</c:v>
              </c:pt>
              <c:pt idx="41">
                <c:v>1846</c:v>
              </c:pt>
              <c:pt idx="42">
                <c:v>1831</c:v>
              </c:pt>
              <c:pt idx="43">
                <c:v>1820</c:v>
              </c:pt>
              <c:pt idx="44">
                <c:v>1746</c:v>
              </c:pt>
              <c:pt idx="45">
                <c:v>1734</c:v>
              </c:pt>
              <c:pt idx="46">
                <c:v>1598</c:v>
              </c:pt>
              <c:pt idx="47">
                <c:v>1522</c:v>
              </c:pt>
              <c:pt idx="48">
                <c:v>2609</c:v>
              </c:pt>
              <c:pt idx="49">
                <c:v>2567</c:v>
              </c:pt>
              <c:pt idx="50">
                <c:v>2566</c:v>
              </c:pt>
              <c:pt idx="51">
                <c:v>2524</c:v>
              </c:pt>
              <c:pt idx="52">
                <c:v>2508</c:v>
              </c:pt>
              <c:pt idx="53">
                <c:v>2441</c:v>
              </c:pt>
              <c:pt idx="54">
                <c:v>2439</c:v>
              </c:pt>
              <c:pt idx="55">
                <c:v>2413</c:v>
              </c:pt>
              <c:pt idx="56">
                <c:v>2370</c:v>
              </c:pt>
              <c:pt idx="57">
                <c:v>2231</c:v>
              </c:pt>
              <c:pt idx="58">
                <c:v>2229</c:v>
              </c:pt>
              <c:pt idx="59">
                <c:v>2191</c:v>
              </c:pt>
            </c:numLit>
          </c:val>
          <c:extLst>
            <c:ext xmlns:c16="http://schemas.microsoft.com/office/drawing/2014/chart" uri="{C3380CC4-5D6E-409C-BE32-E72D297353CC}">
              <c16:uniqueId val="{00000000-EE15-4107-9DFF-33A01618A8EB}"/>
            </c:ext>
          </c:extLst>
        </c:ser>
        <c:dLbls>
          <c:showLegendKey val="0"/>
          <c:showVal val="0"/>
          <c:showCatName val="0"/>
          <c:showSerName val="0"/>
          <c:showPercent val="0"/>
          <c:showBubbleSize val="0"/>
        </c:dLbls>
        <c:gapWidth val="219"/>
        <c:overlap val="-27"/>
        <c:axId val="24985455"/>
        <c:axId val="2023052672"/>
      </c:barChart>
      <c:lineChart>
        <c:grouping val="standard"/>
        <c:varyColors val="0"/>
        <c:ser>
          <c:idx val="1"/>
          <c:order val="1"/>
          <c:tx>
            <c:v>Average of Satisfaction Rate</c:v>
          </c:tx>
          <c:spPr>
            <a:ln w="28575" cap="rnd">
              <a:solidFill>
                <a:schemeClr val="accent3"/>
              </a:solidFill>
              <a:round/>
            </a:ln>
            <a:effectLst/>
          </c:spPr>
          <c:marker>
            <c:symbol val="none"/>
          </c:marker>
          <c:cat>
            <c:strLit>
              <c:ptCount val="60"/>
              <c:pt idx="0">
                <c:v>2016 May</c:v>
              </c:pt>
              <c:pt idx="1">
                <c:v>2016 Dec</c:v>
              </c:pt>
              <c:pt idx="2">
                <c:v>2016 Jan</c:v>
              </c:pt>
              <c:pt idx="3">
                <c:v>2016 Mar</c:v>
              </c:pt>
              <c:pt idx="4">
                <c:v>2016 Jul</c:v>
              </c:pt>
              <c:pt idx="5">
                <c:v>2016 Aug</c:v>
              </c:pt>
              <c:pt idx="6">
                <c:v>2016 Oct</c:v>
              </c:pt>
              <c:pt idx="7">
                <c:v>2016 Sep</c:v>
              </c:pt>
              <c:pt idx="8">
                <c:v>2016 Feb</c:v>
              </c:pt>
              <c:pt idx="9">
                <c:v>2016 Apr</c:v>
              </c:pt>
              <c:pt idx="10">
                <c:v>2016 Jun</c:v>
              </c:pt>
              <c:pt idx="11">
                <c:v>2016 Nov</c:v>
              </c:pt>
              <c:pt idx="12">
                <c:v>2017 May</c:v>
              </c:pt>
              <c:pt idx="13">
                <c:v>2017 Oct</c:v>
              </c:pt>
              <c:pt idx="14">
                <c:v>2017 Mar</c:v>
              </c:pt>
              <c:pt idx="15">
                <c:v>2017 Aug</c:v>
              </c:pt>
              <c:pt idx="16">
                <c:v>2017 Dec</c:v>
              </c:pt>
              <c:pt idx="17">
                <c:v>2017 Apr</c:v>
              </c:pt>
              <c:pt idx="18">
                <c:v>2017 Jun</c:v>
              </c:pt>
              <c:pt idx="19">
                <c:v>2017 Nov</c:v>
              </c:pt>
              <c:pt idx="20">
                <c:v>2017 Jul</c:v>
              </c:pt>
              <c:pt idx="21">
                <c:v>2017 Sep</c:v>
              </c:pt>
              <c:pt idx="22">
                <c:v>2017 Feb</c:v>
              </c:pt>
              <c:pt idx="23">
                <c:v>2017 Jan</c:v>
              </c:pt>
              <c:pt idx="24">
                <c:v>2018 Aug</c:v>
              </c:pt>
              <c:pt idx="25">
                <c:v>2018 Oct</c:v>
              </c:pt>
              <c:pt idx="26">
                <c:v>2018 Jun</c:v>
              </c:pt>
              <c:pt idx="27">
                <c:v>2018 May</c:v>
              </c:pt>
              <c:pt idx="28">
                <c:v>2018 Sep</c:v>
              </c:pt>
              <c:pt idx="29">
                <c:v>2018 Apr</c:v>
              </c:pt>
              <c:pt idx="30">
                <c:v>2018 Nov</c:v>
              </c:pt>
              <c:pt idx="31">
                <c:v>2018 Jul</c:v>
              </c:pt>
              <c:pt idx="32">
                <c:v>2018 Dec</c:v>
              </c:pt>
              <c:pt idx="33">
                <c:v>2018 Feb</c:v>
              </c:pt>
              <c:pt idx="34">
                <c:v>2018 Mar</c:v>
              </c:pt>
              <c:pt idx="35">
                <c:v>2018 Jan</c:v>
              </c:pt>
              <c:pt idx="36">
                <c:v>2019 Aug</c:v>
              </c:pt>
              <c:pt idx="37">
                <c:v>2019 Jul</c:v>
              </c:pt>
              <c:pt idx="38">
                <c:v>2019 Oct</c:v>
              </c:pt>
              <c:pt idx="39">
                <c:v>2019 Dec</c:v>
              </c:pt>
              <c:pt idx="40">
                <c:v>2019 Sep</c:v>
              </c:pt>
              <c:pt idx="41">
                <c:v>2019 Mar</c:v>
              </c:pt>
              <c:pt idx="42">
                <c:v>2019 Nov</c:v>
              </c:pt>
              <c:pt idx="43">
                <c:v>2019 Jun</c:v>
              </c:pt>
              <c:pt idx="44">
                <c:v>2019 Feb</c:v>
              </c:pt>
              <c:pt idx="45">
                <c:v>2019 May</c:v>
              </c:pt>
              <c:pt idx="46">
                <c:v>2019 Apr</c:v>
              </c:pt>
              <c:pt idx="47">
                <c:v>2019 Jan</c:v>
              </c:pt>
              <c:pt idx="48">
                <c:v>2020 Dec</c:v>
              </c:pt>
              <c:pt idx="49">
                <c:v>2020 Oct</c:v>
              </c:pt>
              <c:pt idx="50">
                <c:v>2020 Aug</c:v>
              </c:pt>
              <c:pt idx="51">
                <c:v>2020 Mar</c:v>
              </c:pt>
              <c:pt idx="52">
                <c:v>2020 Nov</c:v>
              </c:pt>
              <c:pt idx="53">
                <c:v>2020 Feb</c:v>
              </c:pt>
              <c:pt idx="54">
                <c:v>2020 Sep</c:v>
              </c:pt>
              <c:pt idx="55">
                <c:v>2020 Apr</c:v>
              </c:pt>
              <c:pt idx="56">
                <c:v>2020 Jun</c:v>
              </c:pt>
              <c:pt idx="57">
                <c:v>2020 Jul</c:v>
              </c:pt>
              <c:pt idx="58">
                <c:v>2020 May</c:v>
              </c:pt>
              <c:pt idx="59">
                <c:v>2020 Jan</c:v>
              </c:pt>
            </c:strLit>
          </c:cat>
          <c:val>
            <c:numLit>
              <c:formatCode>General</c:formatCode>
              <c:ptCount val="60"/>
              <c:pt idx="0">
                <c:v>3.9336206896551724</c:v>
              </c:pt>
              <c:pt idx="1">
                <c:v>4.0569395017793592</c:v>
              </c:pt>
              <c:pt idx="2">
                <c:v>3.9605381165919282</c:v>
              </c:pt>
              <c:pt idx="3">
                <c:v>3.949321266968326</c:v>
              </c:pt>
              <c:pt idx="4">
                <c:v>3.9509536784741144</c:v>
              </c:pt>
              <c:pt idx="5">
                <c:v>3.9990825688073395</c:v>
              </c:pt>
              <c:pt idx="6">
                <c:v>3.9595588235294117</c:v>
              </c:pt>
              <c:pt idx="7">
                <c:v>4.0047125353440149</c:v>
              </c:pt>
              <c:pt idx="8">
                <c:v>3.9346590909090908</c:v>
              </c:pt>
              <c:pt idx="9">
                <c:v>4.0123339658444026</c:v>
              </c:pt>
              <c:pt idx="10">
                <c:v>3.955280685061846</c:v>
              </c:pt>
              <c:pt idx="11">
                <c:v>4.0430210325047797</c:v>
              </c:pt>
              <c:pt idx="12">
                <c:v>4.0289962825278813</c:v>
              </c:pt>
              <c:pt idx="13">
                <c:v>4.0980842911877398</c:v>
              </c:pt>
              <c:pt idx="14">
                <c:v>4.0366328916601715</c:v>
              </c:pt>
              <c:pt idx="15">
                <c:v>4.0516282764098488</c:v>
              </c:pt>
              <c:pt idx="16">
                <c:v>4.0755767700875101</c:v>
              </c:pt>
              <c:pt idx="17">
                <c:v>4.0530120481927714</c:v>
              </c:pt>
              <c:pt idx="18">
                <c:v>4.102090032154341</c:v>
              </c:pt>
              <c:pt idx="19">
                <c:v>4.0667739340305715</c:v>
              </c:pt>
              <c:pt idx="20">
                <c:v>4.0819140308191404</c:v>
              </c:pt>
              <c:pt idx="21">
                <c:v>4.0653061224489795</c:v>
              </c:pt>
              <c:pt idx="22">
                <c:v>4.0208514335360555</c:v>
              </c:pt>
              <c:pt idx="23">
                <c:v>4.1431111111111107</c:v>
              </c:pt>
              <c:pt idx="24">
                <c:v>4.0892750149790293</c:v>
              </c:pt>
              <c:pt idx="25">
                <c:v>4.0560240963855421</c:v>
              </c:pt>
              <c:pt idx="26">
                <c:v>4.0609903381642516</c:v>
              </c:pt>
              <c:pt idx="27">
                <c:v>4.0568663036902599</c:v>
              </c:pt>
              <c:pt idx="28">
                <c:v>4.0946275946275943</c:v>
              </c:pt>
              <c:pt idx="29">
                <c:v>4.1001843884449904</c:v>
              </c:pt>
              <c:pt idx="30">
                <c:v>4.1033210332103325</c:v>
              </c:pt>
              <c:pt idx="31">
                <c:v>4.0790123456790122</c:v>
              </c:pt>
              <c:pt idx="32">
                <c:v>4.0929174788823914</c:v>
              </c:pt>
              <c:pt idx="33">
                <c:v>4.0570670205706705</c:v>
              </c:pt>
              <c:pt idx="34">
                <c:v>4.1149659863945578</c:v>
              </c:pt>
              <c:pt idx="35">
                <c:v>4.2265321955003881</c:v>
              </c:pt>
              <c:pt idx="36">
                <c:v>4.1396325459317582</c:v>
              </c:pt>
              <c:pt idx="37">
                <c:v>4.1161803713527849</c:v>
              </c:pt>
              <c:pt idx="38">
                <c:v>4.1024000000000003</c:v>
              </c:pt>
              <c:pt idx="39">
                <c:v>4.0737179487179489</c:v>
              </c:pt>
              <c:pt idx="40">
                <c:v>4.1239224137931032</c:v>
              </c:pt>
              <c:pt idx="41">
                <c:v>4.1213434452871072</c:v>
              </c:pt>
              <c:pt idx="42">
                <c:v>4.0988530857454943</c:v>
              </c:pt>
              <c:pt idx="43">
                <c:v>4.0840659340659338</c:v>
              </c:pt>
              <c:pt idx="44">
                <c:v>4.0784650630011452</c:v>
              </c:pt>
              <c:pt idx="45">
                <c:v>4.1695501730103803</c:v>
              </c:pt>
              <c:pt idx="46">
                <c:v>4.1770963704630786</c:v>
              </c:pt>
              <c:pt idx="47">
                <c:v>4.2056504599211566</c:v>
              </c:pt>
              <c:pt idx="48">
                <c:v>4.1556151782292066</c:v>
              </c:pt>
              <c:pt idx="49">
                <c:v>4.1254382547721073</c:v>
              </c:pt>
              <c:pt idx="50">
                <c:v>4.1395167575993765</c:v>
              </c:pt>
              <c:pt idx="51">
                <c:v>4.0879556259904914</c:v>
              </c:pt>
              <c:pt idx="52">
                <c:v>4.1172248803827749</c:v>
              </c:pt>
              <c:pt idx="53">
                <c:v>4.1593609176566977</c:v>
              </c:pt>
              <c:pt idx="54">
                <c:v>4.1521115211152111</c:v>
              </c:pt>
              <c:pt idx="55">
                <c:v>4.1566514711976792</c:v>
              </c:pt>
              <c:pt idx="56">
                <c:v>4.176793248945148</c:v>
              </c:pt>
              <c:pt idx="57">
                <c:v>4.2720753025549083</c:v>
              </c:pt>
              <c:pt idx="58">
                <c:v>4.2462987886944816</c:v>
              </c:pt>
              <c:pt idx="59">
                <c:v>4.1716111364673667</c:v>
              </c:pt>
            </c:numLit>
          </c:val>
          <c:smooth val="0"/>
          <c:extLst>
            <c:ext xmlns:c16="http://schemas.microsoft.com/office/drawing/2014/chart" uri="{C3380CC4-5D6E-409C-BE32-E72D297353CC}">
              <c16:uniqueId val="{00000001-EE15-4107-9DFF-33A01618A8EB}"/>
            </c:ext>
          </c:extLst>
        </c:ser>
        <c:dLbls>
          <c:showLegendKey val="0"/>
          <c:showVal val="0"/>
          <c:showCatName val="0"/>
          <c:showSerName val="0"/>
          <c:showPercent val="0"/>
          <c:showBubbleSize val="0"/>
        </c:dLbls>
        <c:marker val="1"/>
        <c:smooth val="0"/>
        <c:axId val="562002927"/>
        <c:axId val="2023057472"/>
      </c:lineChart>
      <c:catAx>
        <c:axId val="24985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3052672"/>
        <c:crosses val="autoZero"/>
        <c:auto val="1"/>
        <c:lblAlgn val="ctr"/>
        <c:lblOffset val="100"/>
        <c:noMultiLvlLbl val="0"/>
      </c:catAx>
      <c:valAx>
        <c:axId val="2023052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985455"/>
        <c:crosses val="autoZero"/>
        <c:crossBetween val="between"/>
      </c:valAx>
      <c:valAx>
        <c:axId val="2023057472"/>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2002927"/>
        <c:crosses val="max"/>
        <c:crossBetween val="between"/>
      </c:valAx>
      <c:catAx>
        <c:axId val="562002927"/>
        <c:scaling>
          <c:orientation val="minMax"/>
        </c:scaling>
        <c:delete val="1"/>
        <c:axPos val="b"/>
        <c:numFmt formatCode="General" sourceLinked="1"/>
        <c:majorTickMark val="out"/>
        <c:minorTickMark val="none"/>
        <c:tickLblPos val="nextTo"/>
        <c:crossAx val="2023057472"/>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[IT Tickets.xlsx]Subjective!PivotTable16</c:name>
    <c:fmtId val="28"/>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b="0" i="0">
                <a:effectLst/>
              </a:rPr>
              <a:t>Satisfaction rate by time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2"/>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Subjective!$B$351</c:f>
              <c:strCache>
                <c:ptCount val="1"/>
                <c:pt idx="0">
                  <c:v>Total</c:v>
                </c:pt>
              </c:strCache>
            </c:strRef>
          </c:tx>
          <c:spPr>
            <a:ln w="28575" cap="rnd">
              <a:solidFill>
                <a:schemeClr val="accent2"/>
              </a:solidFill>
              <a:round/>
            </a:ln>
            <a:effectLst/>
          </c:spPr>
          <c:marker>
            <c:symbol val="none"/>
          </c:marker>
          <c:cat>
            <c:multiLvlStrRef>
              <c:f>Subjective!$A$352:$A$417</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Subjective!$B$352:$B$417</c:f>
              <c:numCache>
                <c:formatCode>0.00</c:formatCode>
                <c:ptCount val="60"/>
                <c:pt idx="0">
                  <c:v>3.9605381165919282</c:v>
                </c:pt>
                <c:pt idx="1">
                  <c:v>3.9346590909090908</c:v>
                </c:pt>
                <c:pt idx="2">
                  <c:v>3.949321266968326</c:v>
                </c:pt>
                <c:pt idx="3">
                  <c:v>4.0123339658444026</c:v>
                </c:pt>
                <c:pt idx="4">
                  <c:v>3.9336206896551724</c:v>
                </c:pt>
                <c:pt idx="5">
                  <c:v>3.955280685061846</c:v>
                </c:pt>
                <c:pt idx="6">
                  <c:v>3.9509536784741144</c:v>
                </c:pt>
                <c:pt idx="7">
                  <c:v>3.9990825688073395</c:v>
                </c:pt>
                <c:pt idx="8">
                  <c:v>4.0047125353440149</c:v>
                </c:pt>
                <c:pt idx="9">
                  <c:v>3.9595588235294117</c:v>
                </c:pt>
                <c:pt idx="10">
                  <c:v>4.0430210325047797</c:v>
                </c:pt>
                <c:pt idx="11">
                  <c:v>4.0569395017793592</c:v>
                </c:pt>
                <c:pt idx="12">
                  <c:v>4.1431111111111107</c:v>
                </c:pt>
                <c:pt idx="13">
                  <c:v>4.0208514335360555</c:v>
                </c:pt>
                <c:pt idx="14">
                  <c:v>4.0366328916601715</c:v>
                </c:pt>
                <c:pt idx="15">
                  <c:v>4.0530120481927714</c:v>
                </c:pt>
                <c:pt idx="16">
                  <c:v>4.0289962825278813</c:v>
                </c:pt>
                <c:pt idx="17">
                  <c:v>4.102090032154341</c:v>
                </c:pt>
                <c:pt idx="18">
                  <c:v>4.0819140308191404</c:v>
                </c:pt>
                <c:pt idx="19">
                  <c:v>4.0516282764098488</c:v>
                </c:pt>
                <c:pt idx="20">
                  <c:v>4.0653061224489795</c:v>
                </c:pt>
                <c:pt idx="21">
                  <c:v>4.0980842911877398</c:v>
                </c:pt>
                <c:pt idx="22">
                  <c:v>4.0667739340305715</c:v>
                </c:pt>
                <c:pt idx="23">
                  <c:v>4.0755767700875101</c:v>
                </c:pt>
                <c:pt idx="24">
                  <c:v>4.2265321955003881</c:v>
                </c:pt>
                <c:pt idx="25">
                  <c:v>4.0570670205706705</c:v>
                </c:pt>
                <c:pt idx="26">
                  <c:v>4.1149659863945578</c:v>
                </c:pt>
                <c:pt idx="27">
                  <c:v>4.1001843884449904</c:v>
                </c:pt>
                <c:pt idx="28">
                  <c:v>4.0568663036902599</c:v>
                </c:pt>
                <c:pt idx="29">
                  <c:v>4.0609903381642516</c:v>
                </c:pt>
                <c:pt idx="30">
                  <c:v>4.0790123456790122</c:v>
                </c:pt>
                <c:pt idx="31">
                  <c:v>4.0892750149790293</c:v>
                </c:pt>
                <c:pt idx="32">
                  <c:v>4.0946275946275943</c:v>
                </c:pt>
                <c:pt idx="33">
                  <c:v>4.0560240963855421</c:v>
                </c:pt>
                <c:pt idx="34">
                  <c:v>4.1033210332103325</c:v>
                </c:pt>
                <c:pt idx="35">
                  <c:v>4.0929174788823914</c:v>
                </c:pt>
                <c:pt idx="36">
                  <c:v>4.2056504599211566</c:v>
                </c:pt>
                <c:pt idx="37">
                  <c:v>4.0784650630011452</c:v>
                </c:pt>
                <c:pt idx="38">
                  <c:v>4.1213434452871072</c:v>
                </c:pt>
                <c:pt idx="39">
                  <c:v>4.1770963704630786</c:v>
                </c:pt>
                <c:pt idx="40">
                  <c:v>4.1695501730103803</c:v>
                </c:pt>
                <c:pt idx="41">
                  <c:v>4.0840659340659338</c:v>
                </c:pt>
                <c:pt idx="42">
                  <c:v>4.1161803713527849</c:v>
                </c:pt>
                <c:pt idx="43">
                  <c:v>4.1396325459317582</c:v>
                </c:pt>
                <c:pt idx="44">
                  <c:v>4.1239224137931032</c:v>
                </c:pt>
                <c:pt idx="45">
                  <c:v>4.1024000000000003</c:v>
                </c:pt>
                <c:pt idx="46">
                  <c:v>4.0988530857454943</c:v>
                </c:pt>
                <c:pt idx="47">
                  <c:v>4.0737179487179489</c:v>
                </c:pt>
                <c:pt idx="48">
                  <c:v>4.1716111364673667</c:v>
                </c:pt>
                <c:pt idx="49">
                  <c:v>4.1593609176566977</c:v>
                </c:pt>
                <c:pt idx="50">
                  <c:v>4.0879556259904914</c:v>
                </c:pt>
                <c:pt idx="51">
                  <c:v>4.1566514711976792</c:v>
                </c:pt>
                <c:pt idx="52">
                  <c:v>4.2462987886944816</c:v>
                </c:pt>
                <c:pt idx="53">
                  <c:v>4.176793248945148</c:v>
                </c:pt>
                <c:pt idx="54">
                  <c:v>4.2720753025549083</c:v>
                </c:pt>
                <c:pt idx="55">
                  <c:v>4.1395167575993765</c:v>
                </c:pt>
                <c:pt idx="56">
                  <c:v>4.1521115211152111</c:v>
                </c:pt>
                <c:pt idx="57">
                  <c:v>4.1254382547721073</c:v>
                </c:pt>
                <c:pt idx="58">
                  <c:v>4.1172248803827749</c:v>
                </c:pt>
                <c:pt idx="59">
                  <c:v>4.1556151782292066</c:v>
                </c:pt>
              </c:numCache>
            </c:numRef>
          </c:val>
          <c:smooth val="0"/>
          <c:extLst>
            <c:ext xmlns:c16="http://schemas.microsoft.com/office/drawing/2014/chart" uri="{C3380CC4-5D6E-409C-BE32-E72D297353CC}">
              <c16:uniqueId val="{00000000-968A-4115-BD51-1D2D1958515B}"/>
            </c:ext>
          </c:extLst>
        </c:ser>
        <c:dLbls>
          <c:showLegendKey val="0"/>
          <c:showVal val="0"/>
          <c:showCatName val="0"/>
          <c:showSerName val="0"/>
          <c:showPercent val="0"/>
          <c:showBubbleSize val="0"/>
        </c:dLbls>
        <c:smooth val="0"/>
        <c:axId val="448186063"/>
        <c:axId val="448186543"/>
      </c:lineChart>
      <c:catAx>
        <c:axId val="448186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8186543"/>
        <c:crosses val="autoZero"/>
        <c:auto val="1"/>
        <c:lblAlgn val="ctr"/>
        <c:lblOffset val="100"/>
        <c:noMultiLvlLbl val="0"/>
      </c:catAx>
      <c:valAx>
        <c:axId val="44818654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81860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6">
  <a:schemeClr val="accent3"/>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 name="Picture 44" descr="Magnifying glass showing decling performance">
            <a:extLst>
              <a:ext uri="{FF2B5EF4-FFF2-40B4-BE49-F238E27FC236}">
                <a16:creationId xmlns:a16="http://schemas.microsoft.com/office/drawing/2014/main" id="{8306F484-1749-3BB2-A226-78D3B56C181F}"/>
              </a:ext>
            </a:extLst>
          </p:cNvPr>
          <p:cNvPicPr>
            <a:picLocks noChangeAspect="1"/>
          </p:cNvPicPr>
          <p:nvPr/>
        </p:nvPicPr>
        <p:blipFill>
          <a:blip r:embed="rId2"/>
          <a:srcRect t="8839" b="6531"/>
          <a:stretch>
            <a:fillRect/>
          </a:stretch>
        </p:blipFill>
        <p:spPr>
          <a:xfrm>
            <a:off x="20" y="-7619"/>
            <a:ext cx="12191979" cy="6887364"/>
          </a:xfrm>
          <a:prstGeom prst="rect">
            <a:avLst/>
          </a:prstGeom>
        </p:spPr>
      </p:pic>
      <p:sp>
        <p:nvSpPr>
          <p:cNvPr id="32" name="Rectangle 31">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6" name="Rectangle 35">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0" name="Rectangle 39">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22">
            <a:extLst>
              <a:ext uri="{FF2B5EF4-FFF2-40B4-BE49-F238E27FC236}">
                <a16:creationId xmlns:a16="http://schemas.microsoft.com/office/drawing/2014/main" id="{A4F37AB6-4681-D744-2F89-2949D08676DC}"/>
              </a:ext>
            </a:extLst>
          </p:cNvPr>
          <p:cNvSpPr>
            <a:spLocks noGrp="1"/>
          </p:cNvSpPr>
          <p:nvPr>
            <p:ph type="ctrTitle"/>
          </p:nvPr>
        </p:nvSpPr>
        <p:spPr>
          <a:xfrm>
            <a:off x="859028" y="2155188"/>
            <a:ext cx="4160233" cy="2839273"/>
          </a:xfrm>
        </p:spPr>
        <p:txBody>
          <a:bodyPr vert="horz" lIns="91440" tIns="45720" rIns="91440" bIns="45720" rtlCol="0" anchor="b">
            <a:normAutofit/>
          </a:bodyPr>
          <a:lstStyle/>
          <a:p>
            <a:r>
              <a:rPr lang="en-US" sz="4000" dirty="0">
                <a:solidFill>
                  <a:srgbClr val="FFFFFF"/>
                </a:solidFill>
              </a:rPr>
              <a:t>IT Support Analysis</a:t>
            </a:r>
          </a:p>
        </p:txBody>
      </p:sp>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a:xfrm>
            <a:off x="859028" y="5166367"/>
            <a:ext cx="4160233" cy="850998"/>
          </a:xfrm>
        </p:spPr>
        <p:txBody>
          <a:bodyPr vert="horz" lIns="91440" tIns="45720" rIns="91440" bIns="45720" rtlCol="0">
            <a:normAutofit/>
          </a:bodyPr>
          <a:lstStyle/>
          <a:p>
            <a:pPr marL="0">
              <a:lnSpc>
                <a:spcPct val="90000"/>
              </a:lnSpc>
              <a:spcBef>
                <a:spcPts val="1000"/>
              </a:spcBef>
            </a:pPr>
            <a:r>
              <a:rPr lang="en-US" dirty="0">
                <a:solidFill>
                  <a:srgbClr val="FFFFFF"/>
                </a:solidFill>
              </a:rPr>
              <a:t>Comprehensive IT Ticket Management System Review</a:t>
            </a:r>
          </a:p>
          <a:p>
            <a:pPr marL="0">
              <a:lnSpc>
                <a:spcPct val="90000"/>
              </a:lnSpc>
              <a:spcBef>
                <a:spcPts val="1000"/>
              </a:spcBef>
            </a:pPr>
            <a:endParaRPr lang="en-US" dirty="0">
              <a:solidFill>
                <a:srgbClr val="FFFFFF"/>
              </a:solidFill>
            </a:endParaRPr>
          </a:p>
        </p:txBody>
      </p:sp>
    </p:spTree>
    <p:extLst>
      <p:ext uri="{BB962C8B-B14F-4D97-AF65-F5344CB8AC3E}">
        <p14:creationId xmlns:p14="http://schemas.microsoft.com/office/powerpoint/2010/main" val="40970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3"/>
                                        </p:tgtEl>
                                        <p:attrNameLst>
                                          <p:attrName>style.visibility</p:attrName>
                                        </p:attrNameLst>
                                      </p:cBhvr>
                                      <p:to>
                                        <p:strVal val="visible"/>
                                      </p:to>
                                    </p:set>
                                    <p:animEffect transition="in" filter="fade">
                                      <p:cBhvr>
                                        <p:cTn id="7" dur="700"/>
                                        <p:tgtEl>
                                          <p:spTgt spid="23"/>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26">
                                            <p:txEl>
                                              <p:pRg st="0" end="0"/>
                                            </p:txEl>
                                          </p:spTgt>
                                        </p:tgtEl>
                                        <p:attrNameLst>
                                          <p:attrName>style.visibility</p:attrName>
                                        </p:attrNameLst>
                                      </p:cBhvr>
                                      <p:to>
                                        <p:strVal val="visible"/>
                                      </p:to>
                                    </p:set>
                                    <p:animEffect transition="in" filter="fade">
                                      <p:cBhvr>
                                        <p:cTn id="10" dur="7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E46A-D297-B7B2-9A1B-BD4BBF98C370}"/>
              </a:ext>
            </a:extLst>
          </p:cNvPr>
          <p:cNvSpPr>
            <a:spLocks noGrp="1"/>
          </p:cNvSpPr>
          <p:nvPr>
            <p:ph type="title"/>
          </p:nvPr>
        </p:nvSpPr>
        <p:spPr>
          <a:xfrm>
            <a:off x="1139952" y="365656"/>
            <a:ext cx="9912096" cy="1014984"/>
          </a:xfrm>
        </p:spPr>
        <p:txBody>
          <a:bodyPr/>
          <a:lstStyle/>
          <a:p>
            <a:r>
              <a:rPr lang="en-IN" sz="4800" dirty="0"/>
              <a:t>Problem Statement</a:t>
            </a:r>
          </a:p>
        </p:txBody>
      </p:sp>
      <p:sp>
        <p:nvSpPr>
          <p:cNvPr id="3" name="Content Placeholder 2">
            <a:extLst>
              <a:ext uri="{FF2B5EF4-FFF2-40B4-BE49-F238E27FC236}">
                <a16:creationId xmlns:a16="http://schemas.microsoft.com/office/drawing/2014/main" id="{9F0A6441-7DE6-DD2E-7405-9F0EFFC3BCF8}"/>
              </a:ext>
            </a:extLst>
          </p:cNvPr>
          <p:cNvSpPr>
            <a:spLocks noGrp="1"/>
          </p:cNvSpPr>
          <p:nvPr>
            <p:ph idx="1"/>
          </p:nvPr>
        </p:nvSpPr>
        <p:spPr/>
        <p:txBody>
          <a:bodyPr/>
          <a:lstStyle/>
          <a:p>
            <a:r>
              <a:rPr lang="en-US" sz="2000" dirty="0"/>
              <a:t>The IT support team handles a large volume of service requests across multiple categories such as system issues, software problems, and access-related concerns. Despite maintaining an acceptable level of customer satisfaction, variations are observed in resolution time, ticket handling efficiency, and priority assignment. Management faces a key decision on where to invest resources—whether to hire additional IT agents, improve training programs, or upgrade the existing ticket management system. A data-driven analysis is therefore required to evaluate performance trends, identify operational gaps, and determine the most effective investment strategy to improve service quality and operational efficiency.</a:t>
            </a:r>
          </a:p>
        </p:txBody>
      </p:sp>
      <p:sp>
        <p:nvSpPr>
          <p:cNvPr id="4" name="Slide Number Placeholder 3">
            <a:extLst>
              <a:ext uri="{FF2B5EF4-FFF2-40B4-BE49-F238E27FC236}">
                <a16:creationId xmlns:a16="http://schemas.microsoft.com/office/drawing/2014/main" id="{E93A1EF3-07CA-2A9F-5B82-A0F3CD49ECB2}"/>
              </a:ext>
            </a:extLst>
          </p:cNvPr>
          <p:cNvSpPr>
            <a:spLocks noGrp="1"/>
          </p:cNvSpPr>
          <p:nvPr>
            <p:ph type="sldNum" sz="quarter" idx="12"/>
          </p:nvPr>
        </p:nvSpPr>
        <p:spPr/>
        <p:txBody>
          <a:bodyPr/>
          <a:lstStyle/>
          <a:p>
            <a:fld id="{8D0AFDD5-844D-364D-8AEC-50CF4D36D55D}" type="slidenum">
              <a:rPr lang="en-US" noProof="0" smtClean="0"/>
              <a:t>2</a:t>
            </a:fld>
            <a:endParaRPr lang="en-US" noProof="0"/>
          </a:p>
        </p:txBody>
      </p:sp>
      <p:sp>
        <p:nvSpPr>
          <p:cNvPr id="5" name="Footer Placeholder 4">
            <a:extLst>
              <a:ext uri="{FF2B5EF4-FFF2-40B4-BE49-F238E27FC236}">
                <a16:creationId xmlns:a16="http://schemas.microsoft.com/office/drawing/2014/main" id="{FE06C04F-7B57-92D9-9AFA-202FBF1B67AA}"/>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E6887C50-D498-B6D0-CC39-1A462724195C}"/>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00697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6655E-FA13-54FD-A93F-6AA55E8CA9BF}"/>
              </a:ext>
            </a:extLst>
          </p:cNvPr>
          <p:cNvSpPr>
            <a:spLocks noGrp="1"/>
          </p:cNvSpPr>
          <p:nvPr>
            <p:ph type="title"/>
          </p:nvPr>
        </p:nvSpPr>
        <p:spPr>
          <a:xfrm>
            <a:off x="1139952" y="0"/>
            <a:ext cx="9912096" cy="816080"/>
          </a:xfrm>
        </p:spPr>
        <p:txBody>
          <a:bodyPr/>
          <a:lstStyle/>
          <a:p>
            <a:r>
              <a:rPr lang="en-US" sz="4800" dirty="0"/>
              <a:t>The IT Ticket Data Information:</a:t>
            </a:r>
            <a:endParaRPr lang="en-IN" sz="4800" dirty="0"/>
          </a:p>
        </p:txBody>
      </p:sp>
      <p:sp>
        <p:nvSpPr>
          <p:cNvPr id="3" name="Content Placeholder 2">
            <a:extLst>
              <a:ext uri="{FF2B5EF4-FFF2-40B4-BE49-F238E27FC236}">
                <a16:creationId xmlns:a16="http://schemas.microsoft.com/office/drawing/2014/main" id="{478B47CA-F993-C1B4-7C83-655F99750A69}"/>
              </a:ext>
            </a:extLst>
          </p:cNvPr>
          <p:cNvSpPr>
            <a:spLocks noGrp="1"/>
          </p:cNvSpPr>
          <p:nvPr>
            <p:ph idx="1"/>
          </p:nvPr>
        </p:nvSpPr>
        <p:spPr>
          <a:xfrm>
            <a:off x="595884" y="1111047"/>
            <a:ext cx="4768596" cy="4994890"/>
          </a:xfrm>
        </p:spPr>
        <p:txBody>
          <a:bodyPr/>
          <a:lstStyle/>
          <a:p>
            <a:pPr fontAlgn="base"/>
            <a:r>
              <a:rPr lang="en-US" sz="2000" b="1" dirty="0"/>
              <a:t>Tickets Sheet: </a:t>
            </a:r>
            <a:r>
              <a:rPr lang="en-US" sz="2000" dirty="0"/>
              <a:t>Contains information about IT support tickets.</a:t>
            </a:r>
          </a:p>
          <a:p>
            <a:pPr fontAlgn="base"/>
            <a:r>
              <a:rPr lang="en-US" sz="2000" b="1" dirty="0"/>
              <a:t>ID: </a:t>
            </a:r>
            <a:r>
              <a:rPr lang="en-US" sz="2000" dirty="0"/>
              <a:t>Unique identifier for the ticket.</a:t>
            </a:r>
            <a:endParaRPr lang="en-US" sz="2000" b="1" dirty="0"/>
          </a:p>
          <a:p>
            <a:pPr fontAlgn="base"/>
            <a:r>
              <a:rPr lang="en-US" sz="2000" b="1" dirty="0"/>
              <a:t>Ticket </a:t>
            </a:r>
            <a:r>
              <a:rPr lang="en-US" sz="2000" b="1" dirty="0" err="1"/>
              <a:t>Fecha</a:t>
            </a:r>
            <a:r>
              <a:rPr lang="en-US" sz="2000" b="1" dirty="0"/>
              <a:t>: </a:t>
            </a:r>
            <a:r>
              <a:rPr lang="en-US" sz="2000" dirty="0"/>
              <a:t>Date of the ticket.</a:t>
            </a:r>
            <a:endParaRPr lang="en-US" sz="2000" b="1" dirty="0"/>
          </a:p>
          <a:p>
            <a:pPr fontAlgn="base"/>
            <a:r>
              <a:rPr lang="en-US" sz="2000" b="1" dirty="0"/>
              <a:t>Employee ID:</a:t>
            </a:r>
            <a:r>
              <a:rPr lang="en-US" sz="2000" dirty="0"/>
              <a:t> ID of the employee who raised the ticket.</a:t>
            </a:r>
            <a:endParaRPr lang="en-US" sz="2000" b="1" dirty="0"/>
          </a:p>
          <a:p>
            <a:pPr fontAlgn="base"/>
            <a:r>
              <a:rPr lang="en-US" sz="2000" b="1" dirty="0"/>
              <a:t>Agent ID:</a:t>
            </a:r>
            <a:r>
              <a:rPr lang="en-US" sz="2000" dirty="0"/>
              <a:t> ID of the agent assigned to the ticket.</a:t>
            </a:r>
            <a:endParaRPr lang="en-US" sz="2000" b="1" dirty="0"/>
          </a:p>
          <a:p>
            <a:pPr fontAlgn="base"/>
            <a:r>
              <a:rPr lang="en-US" sz="2000" b="1" dirty="0"/>
              <a:t>Request Category:</a:t>
            </a:r>
            <a:r>
              <a:rPr lang="en-US" sz="2000" dirty="0"/>
              <a:t> Category of the request (e.g., Login Access, System, Software).</a:t>
            </a:r>
            <a:endParaRPr lang="en-US" sz="2000" b="1" dirty="0"/>
          </a:p>
          <a:p>
            <a:pPr fontAlgn="base"/>
            <a:r>
              <a:rPr lang="en-US" sz="2000" b="1" dirty="0"/>
              <a:t>Issue Type: </a:t>
            </a:r>
            <a:r>
              <a:rPr lang="en-US" sz="2000" dirty="0"/>
              <a:t>Type of issue (e.g., IT Error, IT Request).</a:t>
            </a:r>
            <a:endParaRPr lang="en-US" sz="2000" b="1" dirty="0"/>
          </a:p>
          <a:p>
            <a:pPr fontAlgn="base"/>
            <a:r>
              <a:rPr lang="en-US" sz="2000" dirty="0"/>
              <a:t>Severity: Severity of the issue.</a:t>
            </a:r>
          </a:p>
          <a:p>
            <a:r>
              <a:rPr lang="en-US" sz="2000" b="1" dirty="0"/>
              <a:t>Priority: </a:t>
            </a:r>
            <a:r>
              <a:rPr lang="en-US" sz="2000" dirty="0"/>
              <a:t>Priority level of the issue.</a:t>
            </a:r>
            <a:endParaRPr lang="en-IN" sz="2000" dirty="0"/>
          </a:p>
        </p:txBody>
      </p:sp>
      <p:sp>
        <p:nvSpPr>
          <p:cNvPr id="4" name="Slide Number Placeholder 3">
            <a:extLst>
              <a:ext uri="{FF2B5EF4-FFF2-40B4-BE49-F238E27FC236}">
                <a16:creationId xmlns:a16="http://schemas.microsoft.com/office/drawing/2014/main" id="{FBF191C6-5EA2-65BD-59AD-DC0FBBFD88B7}"/>
              </a:ext>
            </a:extLst>
          </p:cNvPr>
          <p:cNvSpPr>
            <a:spLocks noGrp="1"/>
          </p:cNvSpPr>
          <p:nvPr>
            <p:ph type="sldNum" sz="quarter" idx="12"/>
          </p:nvPr>
        </p:nvSpPr>
        <p:spPr/>
        <p:txBody>
          <a:bodyPr/>
          <a:lstStyle/>
          <a:p>
            <a:fld id="{8D0AFDD5-844D-364D-8AEC-50CF4D36D55D}" type="slidenum">
              <a:rPr lang="en-US" noProof="0" smtClean="0"/>
              <a:t>3</a:t>
            </a:fld>
            <a:endParaRPr lang="en-US" noProof="0"/>
          </a:p>
        </p:txBody>
      </p:sp>
      <p:sp>
        <p:nvSpPr>
          <p:cNvPr id="5" name="Footer Placeholder 4">
            <a:extLst>
              <a:ext uri="{FF2B5EF4-FFF2-40B4-BE49-F238E27FC236}">
                <a16:creationId xmlns:a16="http://schemas.microsoft.com/office/drawing/2014/main" id="{2E755C69-E6AF-1C89-4222-F0BD2D6B5ECF}"/>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1FABD22A-41CB-6C31-420F-E917FBFD2F68}"/>
              </a:ext>
            </a:extLst>
          </p:cNvPr>
          <p:cNvSpPr>
            <a:spLocks noGrp="1"/>
          </p:cNvSpPr>
          <p:nvPr>
            <p:ph type="dt" sz="half" idx="10"/>
          </p:nvPr>
        </p:nvSpPr>
        <p:spPr/>
        <p:txBody>
          <a:bodyPr/>
          <a:lstStyle/>
          <a:p>
            <a:r>
              <a:rPr lang="en-US" noProof="0"/>
              <a:t>20XX</a:t>
            </a:r>
          </a:p>
        </p:txBody>
      </p:sp>
      <p:sp>
        <p:nvSpPr>
          <p:cNvPr id="7" name="TextBox 6">
            <a:extLst>
              <a:ext uri="{FF2B5EF4-FFF2-40B4-BE49-F238E27FC236}">
                <a16:creationId xmlns:a16="http://schemas.microsoft.com/office/drawing/2014/main" id="{94065295-AAD9-70B3-B096-B9E9434B6DD3}"/>
              </a:ext>
            </a:extLst>
          </p:cNvPr>
          <p:cNvSpPr txBox="1"/>
          <p:nvPr/>
        </p:nvSpPr>
        <p:spPr>
          <a:xfrm>
            <a:off x="5820697" y="1111047"/>
            <a:ext cx="5231351" cy="4093428"/>
          </a:xfrm>
          <a:prstGeom prst="rect">
            <a:avLst/>
          </a:prstGeom>
          <a:noFill/>
        </p:spPr>
        <p:txBody>
          <a:bodyPr wrap="square" rtlCol="0">
            <a:spAutoFit/>
          </a:bodyPr>
          <a:lstStyle/>
          <a:p>
            <a:pPr fontAlgn="base"/>
            <a:r>
              <a:rPr lang="en-US" sz="2000" b="1" dirty="0"/>
              <a:t>Resolution Time (Days): </a:t>
            </a:r>
            <a:r>
              <a:rPr lang="en-US" sz="2000" dirty="0"/>
              <a:t>Time taken to resolve the ticket.</a:t>
            </a:r>
            <a:endParaRPr lang="en-US" sz="2000" b="1" dirty="0"/>
          </a:p>
          <a:p>
            <a:pPr fontAlgn="base"/>
            <a:r>
              <a:rPr lang="en-US" sz="2000" b="1" dirty="0"/>
              <a:t>Satisfaction Rate: </a:t>
            </a:r>
            <a:r>
              <a:rPr lang="en-US" sz="2000" dirty="0"/>
              <a:t>Satisfaction rate provided by the employee (1-5 scale).</a:t>
            </a:r>
            <a:endParaRPr lang="en-US" sz="2000" b="1" dirty="0"/>
          </a:p>
          <a:p>
            <a:pPr fontAlgn="base"/>
            <a:br>
              <a:rPr lang="en-US" sz="2000" dirty="0"/>
            </a:br>
            <a:endParaRPr lang="en-US" sz="2000" dirty="0"/>
          </a:p>
          <a:p>
            <a:pPr fontAlgn="base"/>
            <a:r>
              <a:rPr lang="en-US" sz="2000" b="1" dirty="0"/>
              <a:t>IT Agents: </a:t>
            </a:r>
            <a:r>
              <a:rPr lang="en-US" sz="2000" dirty="0"/>
              <a:t>Contains information about IT agents.</a:t>
            </a:r>
          </a:p>
          <a:p>
            <a:pPr fontAlgn="base"/>
            <a:r>
              <a:rPr lang="en-US" sz="2000" b="1" dirty="0"/>
              <a:t>Agent ID: </a:t>
            </a:r>
            <a:r>
              <a:rPr lang="en-US" sz="2000" dirty="0"/>
              <a:t>Unique identifier for the agent.</a:t>
            </a:r>
            <a:endParaRPr lang="en-US" sz="2000" b="1" dirty="0"/>
          </a:p>
          <a:p>
            <a:pPr fontAlgn="base"/>
            <a:r>
              <a:rPr lang="en-US" sz="2000" b="1" dirty="0"/>
              <a:t>Full Name: </a:t>
            </a:r>
            <a:r>
              <a:rPr lang="en-US" sz="2000" dirty="0"/>
              <a:t>Full name of the agent.</a:t>
            </a:r>
            <a:endParaRPr lang="en-US" sz="2000" b="1" dirty="0"/>
          </a:p>
          <a:p>
            <a:pPr fontAlgn="base"/>
            <a:r>
              <a:rPr lang="en-US" sz="2000" b="1" dirty="0"/>
              <a:t>Email: </a:t>
            </a:r>
            <a:r>
              <a:rPr lang="en-US" sz="2000" dirty="0"/>
              <a:t>Email address of the agent.</a:t>
            </a:r>
            <a:endParaRPr lang="en-US" sz="2000" b="1" dirty="0"/>
          </a:p>
          <a:p>
            <a:pPr fontAlgn="base"/>
            <a:r>
              <a:rPr lang="en-US" sz="2000" b="1" dirty="0"/>
              <a:t>Year of Birth: </a:t>
            </a:r>
            <a:r>
              <a:rPr lang="en-US" sz="2000" dirty="0"/>
              <a:t>Year the agent was born.</a:t>
            </a:r>
            <a:endParaRPr lang="en-US" sz="2000" b="1" dirty="0"/>
          </a:p>
          <a:p>
            <a:pPr fontAlgn="base"/>
            <a:r>
              <a:rPr lang="en-US" sz="2000" b="1" dirty="0"/>
              <a:t>Month of Birth: </a:t>
            </a:r>
            <a:r>
              <a:rPr lang="en-US" sz="2000" dirty="0"/>
              <a:t>Month the agent was born.</a:t>
            </a:r>
            <a:endParaRPr lang="en-US" sz="2000" b="1" dirty="0"/>
          </a:p>
          <a:p>
            <a:r>
              <a:rPr lang="en-US" sz="2000" b="1" dirty="0"/>
              <a:t>Day of Birth: </a:t>
            </a:r>
            <a:r>
              <a:rPr lang="en-US" sz="2000" dirty="0"/>
              <a:t>Day the agent was born.</a:t>
            </a:r>
            <a:endParaRPr lang="en-IN" sz="2000" dirty="0"/>
          </a:p>
        </p:txBody>
      </p:sp>
    </p:spTree>
    <p:extLst>
      <p:ext uri="{BB962C8B-B14F-4D97-AF65-F5344CB8AC3E}">
        <p14:creationId xmlns:p14="http://schemas.microsoft.com/office/powerpoint/2010/main" val="208341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68AD9-A5E7-3EF6-4DE8-01D1DE3D5D01}"/>
              </a:ext>
            </a:extLst>
          </p:cNvPr>
          <p:cNvSpPr>
            <a:spLocks noGrp="1"/>
          </p:cNvSpPr>
          <p:nvPr>
            <p:ph type="title"/>
          </p:nvPr>
        </p:nvSpPr>
        <p:spPr>
          <a:xfrm>
            <a:off x="1139952" y="285922"/>
            <a:ext cx="9912096" cy="1014984"/>
          </a:xfrm>
        </p:spPr>
        <p:txBody>
          <a:bodyPr/>
          <a:lstStyle/>
          <a:p>
            <a:r>
              <a:rPr lang="en-IN" sz="4800" dirty="0"/>
              <a:t>DASHBOARD OVERVIEW</a:t>
            </a:r>
          </a:p>
        </p:txBody>
      </p:sp>
      <p:sp>
        <p:nvSpPr>
          <p:cNvPr id="3" name="Content Placeholder 2">
            <a:extLst>
              <a:ext uri="{FF2B5EF4-FFF2-40B4-BE49-F238E27FC236}">
                <a16:creationId xmlns:a16="http://schemas.microsoft.com/office/drawing/2014/main" id="{C293EF51-6922-523D-0772-32752FFF7D02}"/>
              </a:ext>
            </a:extLst>
          </p:cNvPr>
          <p:cNvSpPr>
            <a:spLocks noGrp="1"/>
          </p:cNvSpPr>
          <p:nvPr>
            <p:ph idx="1"/>
          </p:nvPr>
        </p:nvSpPr>
        <p:spPr/>
        <p:txBody>
          <a:bodyPr/>
          <a:lstStyle/>
          <a:p>
            <a:r>
              <a:rPr lang="en-US" sz="2400" b="1" dirty="0"/>
              <a:t>IT Support Dashboard</a:t>
            </a:r>
          </a:p>
          <a:p>
            <a:r>
              <a:rPr lang="en-US" sz="2400" dirty="0"/>
              <a:t>Visualizes key performance indicators</a:t>
            </a:r>
          </a:p>
          <a:p>
            <a:r>
              <a:rPr lang="en-US" sz="2400" dirty="0"/>
              <a:t>Helps analyze:</a:t>
            </a:r>
          </a:p>
          <a:p>
            <a:pPr lvl="1"/>
            <a:r>
              <a:rPr lang="en-US" sz="2000" dirty="0"/>
              <a:t>Ticket trends</a:t>
            </a:r>
          </a:p>
          <a:p>
            <a:pPr lvl="1"/>
            <a:r>
              <a:rPr lang="en-US" sz="2000" dirty="0"/>
              <a:t>Resolution efficiency</a:t>
            </a:r>
          </a:p>
          <a:p>
            <a:pPr lvl="1"/>
            <a:r>
              <a:rPr lang="en-US" sz="2000" dirty="0"/>
              <a:t>Satisfaction levels</a:t>
            </a:r>
          </a:p>
          <a:p>
            <a:pPr lvl="1"/>
            <a:r>
              <a:rPr lang="en-US" sz="2000" dirty="0"/>
              <a:t>Severity vs Priority mapping</a:t>
            </a:r>
          </a:p>
          <a:p>
            <a:r>
              <a:rPr lang="en-US" sz="2400" dirty="0"/>
              <a:t>Enables data-driven decision-making</a:t>
            </a:r>
          </a:p>
        </p:txBody>
      </p:sp>
      <p:sp>
        <p:nvSpPr>
          <p:cNvPr id="4" name="Slide Number Placeholder 3">
            <a:extLst>
              <a:ext uri="{FF2B5EF4-FFF2-40B4-BE49-F238E27FC236}">
                <a16:creationId xmlns:a16="http://schemas.microsoft.com/office/drawing/2014/main" id="{BE4103BC-AF4B-65F3-CE56-5228E96197DE}"/>
              </a:ext>
            </a:extLst>
          </p:cNvPr>
          <p:cNvSpPr>
            <a:spLocks noGrp="1"/>
          </p:cNvSpPr>
          <p:nvPr>
            <p:ph type="sldNum" sz="quarter" idx="12"/>
          </p:nvPr>
        </p:nvSpPr>
        <p:spPr/>
        <p:txBody>
          <a:bodyPr/>
          <a:lstStyle/>
          <a:p>
            <a:fld id="{8D0AFDD5-844D-364D-8AEC-50CF4D36D55D}" type="slidenum">
              <a:rPr lang="en-US" noProof="0" smtClean="0"/>
              <a:t>4</a:t>
            </a:fld>
            <a:endParaRPr lang="en-US" noProof="0"/>
          </a:p>
        </p:txBody>
      </p:sp>
      <p:sp>
        <p:nvSpPr>
          <p:cNvPr id="5" name="Footer Placeholder 4">
            <a:extLst>
              <a:ext uri="{FF2B5EF4-FFF2-40B4-BE49-F238E27FC236}">
                <a16:creationId xmlns:a16="http://schemas.microsoft.com/office/drawing/2014/main" id="{53224DD8-438D-0D27-D105-2B364A11476A}"/>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E1594E42-F315-2B68-696F-CCB8EC404E74}"/>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457870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E3E3-CFDB-B090-B59D-A481B631C82E}"/>
              </a:ext>
            </a:extLst>
          </p:cNvPr>
          <p:cNvSpPr>
            <a:spLocks noGrp="1"/>
          </p:cNvSpPr>
          <p:nvPr>
            <p:ph type="title"/>
          </p:nvPr>
        </p:nvSpPr>
        <p:spPr>
          <a:xfrm>
            <a:off x="1189629" y="982876"/>
            <a:ext cx="5911301" cy="1347369"/>
          </a:xfrm>
        </p:spPr>
        <p:txBody>
          <a:bodyPr/>
          <a:lstStyle/>
          <a:p>
            <a:r>
              <a:rPr lang="en-IN" sz="4800" dirty="0"/>
              <a:t>TICKET TREND OVER TIME</a:t>
            </a:r>
          </a:p>
        </p:txBody>
      </p:sp>
      <p:sp>
        <p:nvSpPr>
          <p:cNvPr id="4" name="Content Placeholder 3">
            <a:extLst>
              <a:ext uri="{FF2B5EF4-FFF2-40B4-BE49-F238E27FC236}">
                <a16:creationId xmlns:a16="http://schemas.microsoft.com/office/drawing/2014/main" id="{A611C277-8AEF-26CF-72D0-A3DE358706A1}"/>
              </a:ext>
            </a:extLst>
          </p:cNvPr>
          <p:cNvSpPr>
            <a:spLocks noGrp="1"/>
          </p:cNvSpPr>
          <p:nvPr>
            <p:ph idx="1"/>
          </p:nvPr>
        </p:nvSpPr>
        <p:spPr>
          <a:xfrm>
            <a:off x="1189629" y="2340076"/>
            <a:ext cx="5893922" cy="3696930"/>
          </a:xfrm>
        </p:spPr>
        <p:txBody>
          <a:bodyPr/>
          <a:lstStyle/>
          <a:p>
            <a:r>
              <a:rPr lang="en-US" sz="2000" b="1" dirty="0"/>
              <a:t>Key Observations</a:t>
            </a:r>
          </a:p>
          <a:p>
            <a:r>
              <a:rPr lang="en-US" sz="2000" dirty="0"/>
              <a:t>Ticket volume increases steadily from 2016 to 2020</a:t>
            </a:r>
          </a:p>
          <a:p>
            <a:r>
              <a:rPr lang="en-US" sz="2000" dirty="0"/>
              <a:t>No sudden spikes or drops observed</a:t>
            </a:r>
          </a:p>
          <a:p>
            <a:r>
              <a:rPr lang="en-US" sz="2000" dirty="0"/>
              <a:t>Indicates steady growth in IT service demand</a:t>
            </a:r>
          </a:p>
          <a:p>
            <a:r>
              <a:rPr lang="en-US" sz="2000" b="1" dirty="0"/>
              <a:t>Insight</a:t>
            </a:r>
          </a:p>
          <a:p>
            <a:pPr marL="397764" indent="-342900">
              <a:buFont typeface="Arial" panose="020B0604020202020204" pitchFamily="34" charset="0"/>
              <a:buChar char="•"/>
            </a:pPr>
            <a:r>
              <a:rPr lang="en-US" sz="2000" dirty="0"/>
              <a:t>Workload is increasing gradually</a:t>
            </a:r>
          </a:p>
          <a:p>
            <a:pPr marL="397764" indent="-342900">
              <a:buFont typeface="Arial" panose="020B0604020202020204" pitchFamily="34" charset="0"/>
              <a:buChar char="•"/>
            </a:pPr>
            <a:r>
              <a:rPr lang="en-US" sz="2000" dirty="0"/>
              <a:t> Current workforce can handle demand</a:t>
            </a:r>
          </a:p>
          <a:p>
            <a:endParaRPr lang="en-IN" dirty="0"/>
          </a:p>
        </p:txBody>
      </p:sp>
      <p:sp>
        <p:nvSpPr>
          <p:cNvPr id="5" name="Slide Number Placeholder 4">
            <a:extLst>
              <a:ext uri="{FF2B5EF4-FFF2-40B4-BE49-F238E27FC236}">
                <a16:creationId xmlns:a16="http://schemas.microsoft.com/office/drawing/2014/main" id="{BEB3E32B-D1D0-3D25-08D4-0898027CB2C7}"/>
              </a:ext>
            </a:extLst>
          </p:cNvPr>
          <p:cNvSpPr>
            <a:spLocks noGrp="1"/>
          </p:cNvSpPr>
          <p:nvPr>
            <p:ph type="sldNum" sz="quarter" idx="12"/>
          </p:nvPr>
        </p:nvSpPr>
        <p:spPr/>
        <p:txBody>
          <a:bodyPr/>
          <a:lstStyle/>
          <a:p>
            <a:fld id="{8D0AFDD5-844D-364D-8AEC-50CF4D36D55D}" type="slidenum">
              <a:rPr lang="en-US" noProof="0" smtClean="0"/>
              <a:pPr/>
              <a:t>5</a:t>
            </a:fld>
            <a:endParaRPr lang="en-US" noProof="0"/>
          </a:p>
        </p:txBody>
      </p:sp>
      <p:graphicFrame>
        <p:nvGraphicFramePr>
          <p:cNvPr id="6" name="Picture Placeholder 5">
            <a:extLst>
              <a:ext uri="{FF2B5EF4-FFF2-40B4-BE49-F238E27FC236}">
                <a16:creationId xmlns:a16="http://schemas.microsoft.com/office/drawing/2014/main" id="{41739D84-9150-42CD-AD4A-F616C02DAAE1}"/>
              </a:ext>
            </a:extLst>
          </p:cNvPr>
          <p:cNvGraphicFramePr>
            <a:graphicFrameLocks noGrp="1"/>
          </p:cNvGraphicFramePr>
          <p:nvPr>
            <p:ph type="pic" sz="quarter" idx="13"/>
            <p:extLst>
              <p:ext uri="{D42A27DB-BD31-4B8C-83A1-F6EECF244321}">
                <p14:modId xmlns:p14="http://schemas.microsoft.com/office/powerpoint/2010/main" val="95651158"/>
              </p:ext>
            </p:extLst>
          </p:nvPr>
        </p:nvGraphicFramePr>
        <p:xfrm>
          <a:off x="7492181" y="796063"/>
          <a:ext cx="4532671" cy="50934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77242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3E1D3-3FA7-D141-3B45-4F9A679EEA08}"/>
              </a:ext>
            </a:extLst>
          </p:cNvPr>
          <p:cNvSpPr>
            <a:spLocks noGrp="1"/>
          </p:cNvSpPr>
          <p:nvPr>
            <p:ph type="title"/>
          </p:nvPr>
        </p:nvSpPr>
        <p:spPr>
          <a:xfrm>
            <a:off x="1139952" y="230659"/>
            <a:ext cx="9912096" cy="638310"/>
          </a:xfrm>
        </p:spPr>
        <p:txBody>
          <a:bodyPr/>
          <a:lstStyle/>
          <a:p>
            <a:r>
              <a:rPr lang="en-IN" sz="4800" dirty="0"/>
              <a:t>TICKETS BY CATEGORY</a:t>
            </a:r>
          </a:p>
        </p:txBody>
      </p:sp>
      <p:sp>
        <p:nvSpPr>
          <p:cNvPr id="3" name="Content Placeholder 2">
            <a:extLst>
              <a:ext uri="{FF2B5EF4-FFF2-40B4-BE49-F238E27FC236}">
                <a16:creationId xmlns:a16="http://schemas.microsoft.com/office/drawing/2014/main" id="{CFCCDC0A-6F0A-3571-F69F-661ED2D62B13}"/>
              </a:ext>
            </a:extLst>
          </p:cNvPr>
          <p:cNvSpPr>
            <a:spLocks noGrp="1"/>
          </p:cNvSpPr>
          <p:nvPr>
            <p:ph idx="1"/>
          </p:nvPr>
        </p:nvSpPr>
        <p:spPr>
          <a:xfrm>
            <a:off x="127820" y="1348740"/>
            <a:ext cx="11000232" cy="4160520"/>
          </a:xfrm>
        </p:spPr>
        <p:txBody>
          <a:bodyPr/>
          <a:lstStyle/>
          <a:p>
            <a:r>
              <a:rPr lang="en-US" sz="2000" b="1" dirty="0"/>
              <a:t>Observations</a:t>
            </a:r>
          </a:p>
          <a:p>
            <a:r>
              <a:rPr lang="en-US" sz="2000" dirty="0"/>
              <a:t>System-related issues form the largest share</a:t>
            </a:r>
          </a:p>
          <a:p>
            <a:r>
              <a:rPr lang="en-US" sz="2000" dirty="0"/>
              <a:t>Login and software issues follow</a:t>
            </a:r>
          </a:p>
          <a:p>
            <a:r>
              <a:rPr lang="en-US" sz="2000" dirty="0"/>
              <a:t>Hardware issues are comparatively fewer</a:t>
            </a:r>
          </a:p>
          <a:p>
            <a:r>
              <a:rPr lang="en-US" sz="2000" b="1" dirty="0"/>
              <a:t>Insight</a:t>
            </a:r>
          </a:p>
          <a:p>
            <a:r>
              <a:rPr lang="en-US" sz="2000" dirty="0"/>
              <a:t> Majority of issues are technical and process-driven</a:t>
            </a:r>
          </a:p>
          <a:p>
            <a:r>
              <a:rPr lang="en-US" sz="2000" dirty="0"/>
              <a:t> Training and system improvement can reduce ticket volume</a:t>
            </a:r>
          </a:p>
          <a:p>
            <a:endParaRPr lang="en-IN" sz="2000" dirty="0"/>
          </a:p>
        </p:txBody>
      </p:sp>
      <p:sp>
        <p:nvSpPr>
          <p:cNvPr id="4" name="Slide Number Placeholder 3">
            <a:extLst>
              <a:ext uri="{FF2B5EF4-FFF2-40B4-BE49-F238E27FC236}">
                <a16:creationId xmlns:a16="http://schemas.microsoft.com/office/drawing/2014/main" id="{F6C0E737-2931-760C-E7B4-ECEC1A252B61}"/>
              </a:ext>
            </a:extLst>
          </p:cNvPr>
          <p:cNvSpPr>
            <a:spLocks noGrp="1"/>
          </p:cNvSpPr>
          <p:nvPr>
            <p:ph type="sldNum" sz="quarter" idx="12"/>
          </p:nvPr>
        </p:nvSpPr>
        <p:spPr/>
        <p:txBody>
          <a:bodyPr/>
          <a:lstStyle/>
          <a:p>
            <a:fld id="{8D0AFDD5-844D-364D-8AEC-50CF4D36D55D}" type="slidenum">
              <a:rPr lang="en-US" noProof="0" smtClean="0"/>
              <a:t>6</a:t>
            </a:fld>
            <a:endParaRPr lang="en-US" noProof="0"/>
          </a:p>
        </p:txBody>
      </p:sp>
      <p:sp>
        <p:nvSpPr>
          <p:cNvPr id="5" name="Footer Placeholder 4">
            <a:extLst>
              <a:ext uri="{FF2B5EF4-FFF2-40B4-BE49-F238E27FC236}">
                <a16:creationId xmlns:a16="http://schemas.microsoft.com/office/drawing/2014/main" id="{FB315606-5893-1858-C1E4-4A8C1B898AED}"/>
              </a:ext>
            </a:extLst>
          </p:cNvPr>
          <p:cNvSpPr>
            <a:spLocks noGrp="1"/>
          </p:cNvSpPr>
          <p:nvPr>
            <p:ph type="ftr" sz="quarter" idx="11"/>
          </p:nvPr>
        </p:nvSpPr>
        <p:spPr/>
        <p:txBody>
          <a:bodyPr/>
          <a:lstStyle/>
          <a:p>
            <a:r>
              <a:rPr lang="en-US" noProof="0"/>
              <a:t>Presentation title</a:t>
            </a:r>
          </a:p>
        </p:txBody>
      </p:sp>
      <p:sp>
        <p:nvSpPr>
          <p:cNvPr id="6" name="Date Placeholder 5">
            <a:extLst>
              <a:ext uri="{FF2B5EF4-FFF2-40B4-BE49-F238E27FC236}">
                <a16:creationId xmlns:a16="http://schemas.microsoft.com/office/drawing/2014/main" id="{54B3C789-D643-D3DA-C026-5C2A13BE272E}"/>
              </a:ext>
            </a:extLst>
          </p:cNvPr>
          <p:cNvSpPr>
            <a:spLocks noGrp="1"/>
          </p:cNvSpPr>
          <p:nvPr>
            <p:ph type="dt" sz="half" idx="10"/>
          </p:nvPr>
        </p:nvSpPr>
        <p:spPr/>
        <p:txBody>
          <a:bodyPr/>
          <a:lstStyle/>
          <a:p>
            <a:r>
              <a:rPr lang="en-US" noProof="0"/>
              <a:t>20XX</a:t>
            </a:r>
          </a:p>
        </p:txBody>
      </p:sp>
      <p:graphicFrame>
        <p:nvGraphicFramePr>
          <p:cNvPr id="7" name="Chart 6">
            <a:extLst>
              <a:ext uri="{FF2B5EF4-FFF2-40B4-BE49-F238E27FC236}">
                <a16:creationId xmlns:a16="http://schemas.microsoft.com/office/drawing/2014/main" id="{EF929753-ED4A-4536-A6D8-B51E36A5A5C7}"/>
              </a:ext>
            </a:extLst>
          </p:cNvPr>
          <p:cNvGraphicFramePr>
            <a:graphicFrameLocks/>
          </p:cNvGraphicFramePr>
          <p:nvPr>
            <p:extLst>
              <p:ext uri="{D42A27DB-BD31-4B8C-83A1-F6EECF244321}">
                <p14:modId xmlns:p14="http://schemas.microsoft.com/office/powerpoint/2010/main" val="3123481255"/>
              </p:ext>
            </p:extLst>
          </p:nvPr>
        </p:nvGraphicFramePr>
        <p:xfrm>
          <a:off x="7059561" y="1417566"/>
          <a:ext cx="5132439" cy="44245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67285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CF2A1-7C9C-ADF9-1A2A-C9C28226609C}"/>
              </a:ext>
            </a:extLst>
          </p:cNvPr>
          <p:cNvSpPr>
            <a:spLocks noGrp="1"/>
          </p:cNvSpPr>
          <p:nvPr>
            <p:ph type="ctrTitle"/>
          </p:nvPr>
        </p:nvSpPr>
        <p:spPr>
          <a:xfrm>
            <a:off x="1112837" y="826959"/>
            <a:ext cx="5080229" cy="1709928"/>
          </a:xfrm>
        </p:spPr>
        <p:txBody>
          <a:bodyPr/>
          <a:lstStyle/>
          <a:p>
            <a:r>
              <a:rPr lang="en-IN" sz="4800" dirty="0"/>
              <a:t>RESOLUTION TIME ANALYSIS</a:t>
            </a:r>
          </a:p>
        </p:txBody>
      </p:sp>
      <p:sp>
        <p:nvSpPr>
          <p:cNvPr id="3" name="Subtitle 2">
            <a:extLst>
              <a:ext uri="{FF2B5EF4-FFF2-40B4-BE49-F238E27FC236}">
                <a16:creationId xmlns:a16="http://schemas.microsoft.com/office/drawing/2014/main" id="{0E52430D-97F1-1516-FF6B-A65BFB6D5F5F}"/>
              </a:ext>
            </a:extLst>
          </p:cNvPr>
          <p:cNvSpPr>
            <a:spLocks noGrp="1"/>
          </p:cNvSpPr>
          <p:nvPr>
            <p:ph type="subTitle" idx="1"/>
          </p:nvPr>
        </p:nvSpPr>
        <p:spPr>
          <a:xfrm>
            <a:off x="1112837" y="2259944"/>
            <a:ext cx="3913632" cy="2338111"/>
          </a:xfrm>
        </p:spPr>
        <p:txBody>
          <a:bodyPr/>
          <a:lstStyle/>
          <a:p>
            <a:r>
              <a:rPr lang="en-US" sz="2000" b="1" dirty="0"/>
              <a:t>Observations</a:t>
            </a:r>
          </a:p>
          <a:p>
            <a:r>
              <a:rPr lang="en-US" sz="2000" dirty="0"/>
              <a:t>Hardware and system issues take longer to resolve</a:t>
            </a:r>
          </a:p>
          <a:p>
            <a:r>
              <a:rPr lang="en-US" sz="2000" dirty="0"/>
              <a:t>Resolution time varies even for similar categories</a:t>
            </a:r>
          </a:p>
          <a:p>
            <a:r>
              <a:rPr lang="en-US" sz="2000" b="1" dirty="0"/>
              <a:t>Insight</a:t>
            </a:r>
          </a:p>
          <a:p>
            <a:pPr marL="285750" indent="-285750">
              <a:buFont typeface="Arial" panose="020B0604020202020204" pitchFamily="34" charset="0"/>
              <a:buChar char="•"/>
            </a:pPr>
            <a:r>
              <a:rPr lang="en-US" sz="2000" dirty="0"/>
              <a:t>Delay is caused by skill gap, not workload</a:t>
            </a:r>
          </a:p>
          <a:p>
            <a:pPr marL="285750" indent="-285750">
              <a:buFont typeface="Arial" panose="020B0604020202020204" pitchFamily="34" charset="0"/>
              <a:buChar char="•"/>
            </a:pPr>
            <a:r>
              <a:rPr lang="en-US" sz="2000" dirty="0"/>
              <a:t>Indicates need for targeted training</a:t>
            </a:r>
          </a:p>
          <a:p>
            <a:endParaRPr lang="en-IN" sz="2000" dirty="0"/>
          </a:p>
        </p:txBody>
      </p:sp>
      <p:graphicFrame>
        <p:nvGraphicFramePr>
          <p:cNvPr id="5" name="Picture Placeholder 4">
            <a:extLst>
              <a:ext uri="{FF2B5EF4-FFF2-40B4-BE49-F238E27FC236}">
                <a16:creationId xmlns:a16="http://schemas.microsoft.com/office/drawing/2014/main" id="{9F44F53F-4457-4CFA-9D9F-D2BC73CF387A}"/>
              </a:ext>
            </a:extLst>
          </p:cNvPr>
          <p:cNvGraphicFramePr>
            <a:graphicFrameLocks noGrp="1"/>
          </p:cNvGraphicFramePr>
          <p:nvPr>
            <p:ph type="pic" sz="quarter" idx="10"/>
          </p:nvPr>
        </p:nvGraphicFramePr>
        <p:xfrm>
          <a:off x="6443663" y="812800"/>
          <a:ext cx="4635500" cy="4927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64432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1F694-2D4D-2D2D-895A-8BB05E633E3D}"/>
              </a:ext>
            </a:extLst>
          </p:cNvPr>
          <p:cNvSpPr>
            <a:spLocks noGrp="1"/>
          </p:cNvSpPr>
          <p:nvPr>
            <p:ph type="title"/>
          </p:nvPr>
        </p:nvSpPr>
        <p:spPr>
          <a:xfrm>
            <a:off x="1139952" y="377239"/>
            <a:ext cx="9912096" cy="766130"/>
          </a:xfrm>
        </p:spPr>
        <p:txBody>
          <a:bodyPr/>
          <a:lstStyle/>
          <a:p>
            <a:r>
              <a:rPr lang="en-IN" sz="4800" dirty="0"/>
              <a:t>SEVERITY VS PRIORITY ANALYSIS</a:t>
            </a:r>
          </a:p>
        </p:txBody>
      </p:sp>
      <p:sp>
        <p:nvSpPr>
          <p:cNvPr id="3" name="Slide Number Placeholder 2">
            <a:extLst>
              <a:ext uri="{FF2B5EF4-FFF2-40B4-BE49-F238E27FC236}">
                <a16:creationId xmlns:a16="http://schemas.microsoft.com/office/drawing/2014/main" id="{86C21DD5-297C-71BC-B5F0-867226EECDF3}"/>
              </a:ext>
            </a:extLst>
          </p:cNvPr>
          <p:cNvSpPr>
            <a:spLocks noGrp="1"/>
          </p:cNvSpPr>
          <p:nvPr>
            <p:ph type="sldNum" sz="quarter" idx="12"/>
          </p:nvPr>
        </p:nvSpPr>
        <p:spPr/>
        <p:txBody>
          <a:bodyPr/>
          <a:lstStyle/>
          <a:p>
            <a:fld id="{8D0AFDD5-844D-364D-8AEC-50CF4D36D55D}" type="slidenum">
              <a:rPr lang="en-US" noProof="0" smtClean="0"/>
              <a:t>8</a:t>
            </a:fld>
            <a:endParaRPr lang="en-US" noProof="0"/>
          </a:p>
        </p:txBody>
      </p:sp>
      <p:sp>
        <p:nvSpPr>
          <p:cNvPr id="4" name="Footer Placeholder 3">
            <a:extLst>
              <a:ext uri="{FF2B5EF4-FFF2-40B4-BE49-F238E27FC236}">
                <a16:creationId xmlns:a16="http://schemas.microsoft.com/office/drawing/2014/main" id="{B05C0A1B-BD31-428F-82A3-068BC1BE5E38}"/>
              </a:ext>
            </a:extLst>
          </p:cNvPr>
          <p:cNvSpPr>
            <a:spLocks noGrp="1"/>
          </p:cNvSpPr>
          <p:nvPr>
            <p:ph type="ftr" sz="quarter" idx="11"/>
          </p:nvPr>
        </p:nvSpPr>
        <p:spPr/>
        <p:txBody>
          <a:bodyPr/>
          <a:lstStyle/>
          <a:p>
            <a:r>
              <a:rPr lang="en-US" noProof="0"/>
              <a:t>Presentation title</a:t>
            </a:r>
          </a:p>
        </p:txBody>
      </p:sp>
      <p:sp>
        <p:nvSpPr>
          <p:cNvPr id="5" name="Date Placeholder 4">
            <a:extLst>
              <a:ext uri="{FF2B5EF4-FFF2-40B4-BE49-F238E27FC236}">
                <a16:creationId xmlns:a16="http://schemas.microsoft.com/office/drawing/2014/main" id="{D30B70FD-19E1-945A-612F-57829009F2E3}"/>
              </a:ext>
            </a:extLst>
          </p:cNvPr>
          <p:cNvSpPr>
            <a:spLocks noGrp="1"/>
          </p:cNvSpPr>
          <p:nvPr>
            <p:ph type="dt" sz="half" idx="10"/>
          </p:nvPr>
        </p:nvSpPr>
        <p:spPr/>
        <p:txBody>
          <a:bodyPr/>
          <a:lstStyle/>
          <a:p>
            <a:r>
              <a:rPr lang="en-US" noProof="0"/>
              <a:t>20XX</a:t>
            </a:r>
          </a:p>
        </p:txBody>
      </p:sp>
      <p:sp>
        <p:nvSpPr>
          <p:cNvPr id="7" name="TextBox 6">
            <a:extLst>
              <a:ext uri="{FF2B5EF4-FFF2-40B4-BE49-F238E27FC236}">
                <a16:creationId xmlns:a16="http://schemas.microsoft.com/office/drawing/2014/main" id="{82B87DD0-A9EC-5377-D34B-9B55BAEFB79E}"/>
              </a:ext>
            </a:extLst>
          </p:cNvPr>
          <p:cNvSpPr txBox="1"/>
          <p:nvPr/>
        </p:nvSpPr>
        <p:spPr>
          <a:xfrm>
            <a:off x="1139952" y="1356292"/>
            <a:ext cx="6100916" cy="2862322"/>
          </a:xfrm>
          <a:prstGeom prst="rect">
            <a:avLst/>
          </a:prstGeom>
          <a:noFill/>
        </p:spPr>
        <p:txBody>
          <a:bodyPr wrap="square">
            <a:spAutoFit/>
          </a:bodyPr>
          <a:lstStyle/>
          <a:p>
            <a:pPr>
              <a:buNone/>
            </a:pPr>
            <a:r>
              <a:rPr lang="en-US" sz="2000" b="1" dirty="0"/>
              <a:t>Key Findings</a:t>
            </a:r>
          </a:p>
          <a:p>
            <a:pPr>
              <a:buFont typeface="Arial" panose="020B0604020202020204" pitchFamily="34" charset="0"/>
              <a:buChar char="•"/>
            </a:pPr>
            <a:r>
              <a:rPr lang="en-US" sz="2000" dirty="0"/>
              <a:t>High-severity tickets are often marked as:</a:t>
            </a:r>
          </a:p>
          <a:p>
            <a:pPr marL="742950" lvl="1" indent="-285750">
              <a:buFont typeface="Arial" panose="020B0604020202020204" pitchFamily="34" charset="0"/>
              <a:buChar char="•"/>
            </a:pPr>
            <a:r>
              <a:rPr lang="en-US" sz="2000" dirty="0"/>
              <a:t>Low priority</a:t>
            </a:r>
          </a:p>
          <a:p>
            <a:pPr marL="742950" lvl="1" indent="-285750">
              <a:buFont typeface="Arial" panose="020B0604020202020204" pitchFamily="34" charset="0"/>
              <a:buChar char="•"/>
            </a:pPr>
            <a:r>
              <a:rPr lang="en-US" sz="2000" dirty="0"/>
              <a:t>Unassigned</a:t>
            </a:r>
          </a:p>
          <a:p>
            <a:pPr>
              <a:buFont typeface="Arial" panose="020B0604020202020204" pitchFamily="34" charset="0"/>
              <a:buChar char="•"/>
            </a:pPr>
            <a:r>
              <a:rPr lang="en-US" sz="2000" dirty="0"/>
              <a:t>Large number of tickets lack proper priority</a:t>
            </a:r>
          </a:p>
          <a:p>
            <a:pPr>
              <a:buNone/>
            </a:pPr>
            <a:r>
              <a:rPr lang="en-US" sz="2000" b="1" dirty="0"/>
              <a:t>Impact</a:t>
            </a:r>
          </a:p>
          <a:p>
            <a:pPr marL="342900" indent="-342900">
              <a:buFont typeface="Arial" panose="020B0604020202020204" pitchFamily="34" charset="0"/>
              <a:buChar char="•"/>
            </a:pPr>
            <a:r>
              <a:rPr lang="en-US" sz="2000" dirty="0"/>
              <a:t>SLA violations</a:t>
            </a:r>
          </a:p>
          <a:p>
            <a:pPr marL="342900" indent="-342900">
              <a:buFont typeface="Arial" panose="020B0604020202020204" pitchFamily="34" charset="0"/>
              <a:buChar char="•"/>
            </a:pPr>
            <a:r>
              <a:rPr lang="en-US" sz="2000" dirty="0"/>
              <a:t>Delayed ticket resolution</a:t>
            </a:r>
          </a:p>
          <a:p>
            <a:pPr marL="342900" indent="-342900">
              <a:buFont typeface="Arial" panose="020B0604020202020204" pitchFamily="34" charset="0"/>
              <a:buChar char="•"/>
            </a:pPr>
            <a:r>
              <a:rPr lang="en-US" sz="2000" dirty="0"/>
              <a:t>Manual rework required</a:t>
            </a:r>
          </a:p>
        </p:txBody>
      </p:sp>
      <p:graphicFrame>
        <p:nvGraphicFramePr>
          <p:cNvPr id="8" name="Chart 7">
            <a:extLst>
              <a:ext uri="{FF2B5EF4-FFF2-40B4-BE49-F238E27FC236}">
                <a16:creationId xmlns:a16="http://schemas.microsoft.com/office/drawing/2014/main" id="{78BFB82D-B6EE-401C-9C3D-728ACC073396}"/>
              </a:ext>
            </a:extLst>
          </p:cNvPr>
          <p:cNvGraphicFramePr>
            <a:graphicFrameLocks/>
          </p:cNvGraphicFramePr>
          <p:nvPr>
            <p:extLst>
              <p:ext uri="{D42A27DB-BD31-4B8C-83A1-F6EECF244321}">
                <p14:modId xmlns:p14="http://schemas.microsoft.com/office/powerpoint/2010/main" val="2094284802"/>
              </p:ext>
            </p:extLst>
          </p:nvPr>
        </p:nvGraphicFramePr>
        <p:xfrm>
          <a:off x="6096000" y="1498505"/>
          <a:ext cx="5869858" cy="40324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1469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62B69D-37E0-7BF5-1EE2-8E9D0188926C}"/>
              </a:ext>
            </a:extLst>
          </p:cNvPr>
          <p:cNvSpPr>
            <a:spLocks noGrp="1"/>
          </p:cNvSpPr>
          <p:nvPr>
            <p:ph type="sldNum" sz="quarter" idx="12"/>
          </p:nvPr>
        </p:nvSpPr>
        <p:spPr/>
        <p:txBody>
          <a:bodyPr/>
          <a:lstStyle/>
          <a:p>
            <a:fld id="{8D0AFDD5-844D-364D-8AEC-50CF4D36D55D}" type="slidenum">
              <a:rPr lang="en-US" noProof="0" smtClean="0"/>
              <a:t>9</a:t>
            </a:fld>
            <a:endParaRPr lang="en-US" noProof="0"/>
          </a:p>
        </p:txBody>
      </p:sp>
      <p:sp>
        <p:nvSpPr>
          <p:cNvPr id="3" name="Footer Placeholder 2">
            <a:extLst>
              <a:ext uri="{FF2B5EF4-FFF2-40B4-BE49-F238E27FC236}">
                <a16:creationId xmlns:a16="http://schemas.microsoft.com/office/drawing/2014/main" id="{A3CE377A-DC2F-1D28-7EC9-3F733B5C148D}"/>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61528DC0-2D79-D955-7965-F04DEBB893AC}"/>
              </a:ext>
            </a:extLst>
          </p:cNvPr>
          <p:cNvSpPr>
            <a:spLocks noGrp="1"/>
          </p:cNvSpPr>
          <p:nvPr>
            <p:ph type="dt" sz="half" idx="10"/>
          </p:nvPr>
        </p:nvSpPr>
        <p:spPr/>
        <p:txBody>
          <a:bodyPr/>
          <a:lstStyle/>
          <a:p>
            <a:r>
              <a:rPr lang="en-US" noProof="0"/>
              <a:t>20XX</a:t>
            </a:r>
          </a:p>
        </p:txBody>
      </p:sp>
      <p:sp>
        <p:nvSpPr>
          <p:cNvPr id="6" name="TextBox 5">
            <a:extLst>
              <a:ext uri="{FF2B5EF4-FFF2-40B4-BE49-F238E27FC236}">
                <a16:creationId xmlns:a16="http://schemas.microsoft.com/office/drawing/2014/main" id="{06F45FA0-09FC-A49D-C923-A25157D66D3B}"/>
              </a:ext>
            </a:extLst>
          </p:cNvPr>
          <p:cNvSpPr txBox="1"/>
          <p:nvPr/>
        </p:nvSpPr>
        <p:spPr>
          <a:xfrm>
            <a:off x="776020" y="222187"/>
            <a:ext cx="10639960" cy="830997"/>
          </a:xfrm>
          <a:prstGeom prst="rect">
            <a:avLst/>
          </a:prstGeom>
          <a:noFill/>
        </p:spPr>
        <p:txBody>
          <a:bodyPr wrap="square">
            <a:spAutoFit/>
          </a:bodyPr>
          <a:lstStyle/>
          <a:p>
            <a:pPr algn="ctr"/>
            <a:r>
              <a:rPr lang="en-IN" sz="4800" dirty="0"/>
              <a:t>SATISFACTION SCORE DISTRIBUTION</a:t>
            </a:r>
          </a:p>
        </p:txBody>
      </p:sp>
      <p:sp>
        <p:nvSpPr>
          <p:cNvPr id="8" name="TextBox 7">
            <a:extLst>
              <a:ext uri="{FF2B5EF4-FFF2-40B4-BE49-F238E27FC236}">
                <a16:creationId xmlns:a16="http://schemas.microsoft.com/office/drawing/2014/main" id="{D6860B12-9E66-C5EE-C2A1-8CE5E6311311}"/>
              </a:ext>
            </a:extLst>
          </p:cNvPr>
          <p:cNvSpPr txBox="1"/>
          <p:nvPr/>
        </p:nvSpPr>
        <p:spPr>
          <a:xfrm>
            <a:off x="1021080" y="2105561"/>
            <a:ext cx="6100916" cy="1323439"/>
          </a:xfrm>
          <a:prstGeom prst="rect">
            <a:avLst/>
          </a:prstGeom>
          <a:noFill/>
        </p:spPr>
        <p:txBody>
          <a:bodyPr wrap="square">
            <a:spAutoFit/>
          </a:bodyPr>
          <a:lstStyle/>
          <a:p>
            <a:pPr>
              <a:buNone/>
            </a:pPr>
            <a:r>
              <a:rPr lang="en-US" sz="2000" b="1" dirty="0"/>
              <a:t>Observations</a:t>
            </a:r>
          </a:p>
          <a:p>
            <a:pPr>
              <a:buFont typeface="Arial" panose="020B0604020202020204" pitchFamily="34" charset="0"/>
              <a:buChar char="•"/>
            </a:pPr>
            <a:r>
              <a:rPr lang="en-US" sz="2000" dirty="0"/>
              <a:t>Majority of users give ratings between 4 and 5</a:t>
            </a:r>
          </a:p>
          <a:p>
            <a:pPr>
              <a:buFont typeface="Arial" panose="020B0604020202020204" pitchFamily="34" charset="0"/>
              <a:buChar char="•"/>
            </a:pPr>
            <a:r>
              <a:rPr lang="en-US" sz="2000" dirty="0"/>
              <a:t>Very few low ratings</a:t>
            </a:r>
          </a:p>
          <a:p>
            <a:pPr>
              <a:buFont typeface="Arial" panose="020B0604020202020204" pitchFamily="34" charset="0"/>
              <a:buChar char="•"/>
            </a:pPr>
            <a:r>
              <a:rPr lang="en-US" sz="2000" dirty="0"/>
              <a:t>Indicates overall positive user experience</a:t>
            </a:r>
          </a:p>
        </p:txBody>
      </p:sp>
      <p:graphicFrame>
        <p:nvGraphicFramePr>
          <p:cNvPr id="10" name="Chart 9">
            <a:extLst>
              <a:ext uri="{FF2B5EF4-FFF2-40B4-BE49-F238E27FC236}">
                <a16:creationId xmlns:a16="http://schemas.microsoft.com/office/drawing/2014/main" id="{E30C6EA6-B4B3-1940-14FC-A4D85BB0535D}"/>
              </a:ext>
            </a:extLst>
          </p:cNvPr>
          <p:cNvGraphicFramePr>
            <a:graphicFrameLocks/>
          </p:cNvGraphicFramePr>
          <p:nvPr>
            <p:extLst>
              <p:ext uri="{D42A27DB-BD31-4B8C-83A1-F6EECF244321}">
                <p14:modId xmlns:p14="http://schemas.microsoft.com/office/powerpoint/2010/main" val="2125150575"/>
              </p:ext>
            </p:extLst>
          </p:nvPr>
        </p:nvGraphicFramePr>
        <p:xfrm>
          <a:off x="6450868" y="1398639"/>
          <a:ext cx="5288848" cy="44220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00957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5B60F-9C66-7047-702B-2331DF16C8CE}"/>
              </a:ext>
            </a:extLst>
          </p:cNvPr>
          <p:cNvSpPr>
            <a:spLocks noGrp="1"/>
          </p:cNvSpPr>
          <p:nvPr>
            <p:ph type="ctrTitle"/>
          </p:nvPr>
        </p:nvSpPr>
        <p:spPr>
          <a:xfrm>
            <a:off x="1222248" y="958055"/>
            <a:ext cx="4873752" cy="1709928"/>
          </a:xfrm>
        </p:spPr>
        <p:txBody>
          <a:bodyPr/>
          <a:lstStyle/>
          <a:p>
            <a:r>
              <a:rPr lang="en-IN" sz="4800" dirty="0"/>
              <a:t>AGE GROUP VS SATISFACTION</a:t>
            </a:r>
          </a:p>
        </p:txBody>
      </p:sp>
      <p:sp>
        <p:nvSpPr>
          <p:cNvPr id="3" name="Subtitle 2">
            <a:extLst>
              <a:ext uri="{FF2B5EF4-FFF2-40B4-BE49-F238E27FC236}">
                <a16:creationId xmlns:a16="http://schemas.microsoft.com/office/drawing/2014/main" id="{165B4BD6-1E36-3196-ED7A-83536C79EFC1}"/>
              </a:ext>
            </a:extLst>
          </p:cNvPr>
          <p:cNvSpPr>
            <a:spLocks noGrp="1"/>
          </p:cNvSpPr>
          <p:nvPr>
            <p:ph type="subTitle" idx="1"/>
          </p:nvPr>
        </p:nvSpPr>
        <p:spPr>
          <a:xfrm>
            <a:off x="1222248" y="2487168"/>
            <a:ext cx="3913632" cy="1883664"/>
          </a:xfrm>
        </p:spPr>
        <p:txBody>
          <a:bodyPr/>
          <a:lstStyle/>
          <a:p>
            <a:r>
              <a:rPr lang="en-US" sz="2000" b="1" dirty="0"/>
              <a:t>Observations</a:t>
            </a:r>
          </a:p>
          <a:p>
            <a:r>
              <a:rPr lang="en-US" sz="2000" dirty="0"/>
              <a:t>Satisfaction levels are similar across all age groups</a:t>
            </a:r>
          </a:p>
          <a:p>
            <a:r>
              <a:rPr lang="en-US" sz="2000" dirty="0"/>
              <a:t>Performance does not depend on age</a:t>
            </a:r>
          </a:p>
          <a:p>
            <a:r>
              <a:rPr lang="en-US" sz="2000" b="1" dirty="0"/>
              <a:t>Insight</a:t>
            </a:r>
          </a:p>
          <a:p>
            <a:pPr marL="285750" indent="-285750">
              <a:buFont typeface="Arial" panose="020B0604020202020204" pitchFamily="34" charset="0"/>
              <a:buChar char="•"/>
            </a:pPr>
            <a:r>
              <a:rPr lang="en-US" sz="2000" dirty="0"/>
              <a:t>Skill and training matter more than age</a:t>
            </a:r>
          </a:p>
          <a:p>
            <a:endParaRPr lang="en-IN" sz="2000" dirty="0"/>
          </a:p>
        </p:txBody>
      </p:sp>
      <p:graphicFrame>
        <p:nvGraphicFramePr>
          <p:cNvPr id="5" name="Picture Placeholder 4">
            <a:extLst>
              <a:ext uri="{FF2B5EF4-FFF2-40B4-BE49-F238E27FC236}">
                <a16:creationId xmlns:a16="http://schemas.microsoft.com/office/drawing/2014/main" id="{7BDB0AD2-BC71-4634-A928-CEE1D0BA13D9}"/>
              </a:ext>
            </a:extLst>
          </p:cNvPr>
          <p:cNvGraphicFramePr>
            <a:graphicFrameLocks noGrp="1"/>
          </p:cNvGraphicFramePr>
          <p:nvPr>
            <p:ph type="pic" sz="quarter" idx="10"/>
            <p:extLst>
              <p:ext uri="{D42A27DB-BD31-4B8C-83A1-F6EECF244321}">
                <p14:modId xmlns:p14="http://schemas.microsoft.com/office/powerpoint/2010/main" val="1049805631"/>
              </p:ext>
            </p:extLst>
          </p:nvPr>
        </p:nvGraphicFramePr>
        <p:xfrm>
          <a:off x="6443663" y="812800"/>
          <a:ext cx="4635500" cy="4927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15587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B33B9-82B3-8419-FE0F-67ABFAF1027D}"/>
              </a:ext>
            </a:extLst>
          </p:cNvPr>
          <p:cNvSpPr>
            <a:spLocks noGrp="1"/>
          </p:cNvSpPr>
          <p:nvPr>
            <p:ph type="title"/>
          </p:nvPr>
        </p:nvSpPr>
        <p:spPr>
          <a:xfrm>
            <a:off x="648929" y="210208"/>
            <a:ext cx="10894142" cy="1014984"/>
          </a:xfrm>
        </p:spPr>
        <p:txBody>
          <a:bodyPr/>
          <a:lstStyle/>
          <a:p>
            <a:r>
              <a:rPr lang="en-IN" sz="4800" dirty="0"/>
              <a:t>EMPLOYEE PERFORMANCE ANALYSIS</a:t>
            </a:r>
          </a:p>
        </p:txBody>
      </p:sp>
      <p:sp>
        <p:nvSpPr>
          <p:cNvPr id="3" name="Slide Number Placeholder 2">
            <a:extLst>
              <a:ext uri="{FF2B5EF4-FFF2-40B4-BE49-F238E27FC236}">
                <a16:creationId xmlns:a16="http://schemas.microsoft.com/office/drawing/2014/main" id="{1FD3BFBB-8D19-0CC0-FA43-EAD6571D0F9D}"/>
              </a:ext>
            </a:extLst>
          </p:cNvPr>
          <p:cNvSpPr>
            <a:spLocks noGrp="1"/>
          </p:cNvSpPr>
          <p:nvPr>
            <p:ph type="sldNum" sz="quarter" idx="12"/>
          </p:nvPr>
        </p:nvSpPr>
        <p:spPr/>
        <p:txBody>
          <a:bodyPr/>
          <a:lstStyle/>
          <a:p>
            <a:fld id="{8D0AFDD5-844D-364D-8AEC-50CF4D36D55D}" type="slidenum">
              <a:rPr lang="en-US" noProof="0" smtClean="0"/>
              <a:t>11</a:t>
            </a:fld>
            <a:endParaRPr lang="en-US" noProof="0"/>
          </a:p>
        </p:txBody>
      </p:sp>
      <p:sp>
        <p:nvSpPr>
          <p:cNvPr id="4" name="Footer Placeholder 3">
            <a:extLst>
              <a:ext uri="{FF2B5EF4-FFF2-40B4-BE49-F238E27FC236}">
                <a16:creationId xmlns:a16="http://schemas.microsoft.com/office/drawing/2014/main" id="{0CE7391A-4659-FCFC-D38E-D0A978CF7A1C}"/>
              </a:ext>
            </a:extLst>
          </p:cNvPr>
          <p:cNvSpPr>
            <a:spLocks noGrp="1"/>
          </p:cNvSpPr>
          <p:nvPr>
            <p:ph type="ftr" sz="quarter" idx="11"/>
          </p:nvPr>
        </p:nvSpPr>
        <p:spPr/>
        <p:txBody>
          <a:bodyPr/>
          <a:lstStyle/>
          <a:p>
            <a:r>
              <a:rPr lang="en-US" noProof="0"/>
              <a:t>Presentation title</a:t>
            </a:r>
          </a:p>
        </p:txBody>
      </p:sp>
      <p:sp>
        <p:nvSpPr>
          <p:cNvPr id="5" name="Date Placeholder 4">
            <a:extLst>
              <a:ext uri="{FF2B5EF4-FFF2-40B4-BE49-F238E27FC236}">
                <a16:creationId xmlns:a16="http://schemas.microsoft.com/office/drawing/2014/main" id="{CBFEDF4E-7C87-F3DB-7816-F55A4678AD0B}"/>
              </a:ext>
            </a:extLst>
          </p:cNvPr>
          <p:cNvSpPr>
            <a:spLocks noGrp="1"/>
          </p:cNvSpPr>
          <p:nvPr>
            <p:ph type="dt" sz="half" idx="10"/>
          </p:nvPr>
        </p:nvSpPr>
        <p:spPr/>
        <p:txBody>
          <a:bodyPr/>
          <a:lstStyle/>
          <a:p>
            <a:r>
              <a:rPr lang="en-US" noProof="0"/>
              <a:t>20XX</a:t>
            </a:r>
          </a:p>
        </p:txBody>
      </p:sp>
      <p:sp>
        <p:nvSpPr>
          <p:cNvPr id="8" name="TextBox 7">
            <a:extLst>
              <a:ext uri="{FF2B5EF4-FFF2-40B4-BE49-F238E27FC236}">
                <a16:creationId xmlns:a16="http://schemas.microsoft.com/office/drawing/2014/main" id="{ED50B567-F160-A969-0F02-BDB696741A1C}"/>
              </a:ext>
            </a:extLst>
          </p:cNvPr>
          <p:cNvSpPr txBox="1"/>
          <p:nvPr/>
        </p:nvSpPr>
        <p:spPr>
          <a:xfrm>
            <a:off x="838200" y="1536174"/>
            <a:ext cx="5403809" cy="3785652"/>
          </a:xfrm>
          <a:prstGeom prst="rect">
            <a:avLst/>
          </a:prstGeom>
          <a:noFill/>
        </p:spPr>
        <p:txBody>
          <a:bodyPr wrap="square">
            <a:spAutoFit/>
          </a:bodyPr>
          <a:lstStyle/>
          <a:p>
            <a:pPr>
              <a:buNone/>
            </a:pPr>
            <a:r>
              <a:rPr lang="en-US" sz="2000" b="1" dirty="0"/>
              <a:t>Observations</a:t>
            </a:r>
          </a:p>
          <a:p>
            <a:pPr>
              <a:buFont typeface="Arial" panose="020B0604020202020204" pitchFamily="34" charset="0"/>
              <a:buChar char="•"/>
            </a:pPr>
            <a:r>
              <a:rPr lang="en-US" sz="2000" dirty="0"/>
              <a:t>Agents handle a </a:t>
            </a:r>
            <a:r>
              <a:rPr lang="en-US" sz="2000" b="1" dirty="0"/>
              <a:t>similar number of tickets</a:t>
            </a:r>
            <a:r>
              <a:rPr lang="en-US" sz="2000" dirty="0"/>
              <a:t>, indicating balanced workload.</a:t>
            </a:r>
          </a:p>
          <a:p>
            <a:pPr>
              <a:buFont typeface="Arial" panose="020B0604020202020204" pitchFamily="34" charset="0"/>
              <a:buChar char="•"/>
            </a:pPr>
            <a:r>
              <a:rPr lang="en-US" sz="2000" dirty="0"/>
              <a:t>However, </a:t>
            </a:r>
            <a:r>
              <a:rPr lang="en-US" sz="2000" b="1" dirty="0"/>
              <a:t>resolution time varies significantly across employees</a:t>
            </a:r>
            <a:r>
              <a:rPr lang="en-US" sz="2000" dirty="0"/>
              <a:t>.</a:t>
            </a:r>
          </a:p>
          <a:p>
            <a:pPr>
              <a:buFont typeface="Arial" panose="020B0604020202020204" pitchFamily="34" charset="0"/>
              <a:buChar char="•"/>
            </a:pPr>
            <a:r>
              <a:rPr lang="en-US" sz="2000" dirty="0"/>
              <a:t>Some agents resolve tickets faster despite similar ticket volumes.</a:t>
            </a:r>
          </a:p>
          <a:p>
            <a:pPr>
              <a:buNone/>
            </a:pPr>
            <a:r>
              <a:rPr lang="en-US" sz="2000" b="1" dirty="0"/>
              <a:t>Insight</a:t>
            </a:r>
          </a:p>
          <a:p>
            <a:pPr marL="342900" indent="-342900">
              <a:buFont typeface="Arial" panose="020B0604020202020204" pitchFamily="34" charset="0"/>
              <a:buChar char="•"/>
            </a:pPr>
            <a:r>
              <a:rPr lang="en-US" sz="2000" dirty="0"/>
              <a:t>Performance differences are skill-based, not workload-based</a:t>
            </a:r>
          </a:p>
          <a:p>
            <a:pPr marL="342900" indent="-342900">
              <a:buFont typeface="Arial" panose="020B0604020202020204" pitchFamily="34" charset="0"/>
              <a:buChar char="•"/>
            </a:pPr>
            <a:r>
              <a:rPr lang="en-US" sz="2000" dirty="0"/>
              <a:t>Indicates scope for performance improvement through training</a:t>
            </a:r>
          </a:p>
        </p:txBody>
      </p:sp>
      <p:graphicFrame>
        <p:nvGraphicFramePr>
          <p:cNvPr id="9" name="Chart 8">
            <a:extLst>
              <a:ext uri="{FF2B5EF4-FFF2-40B4-BE49-F238E27FC236}">
                <a16:creationId xmlns:a16="http://schemas.microsoft.com/office/drawing/2014/main" id="{A9B7ABFF-042B-4F86-9D5E-82BCD4D3B6E1}"/>
              </a:ext>
            </a:extLst>
          </p:cNvPr>
          <p:cNvGraphicFramePr>
            <a:graphicFrameLocks/>
          </p:cNvGraphicFramePr>
          <p:nvPr>
            <p:extLst>
              <p:ext uri="{D42A27DB-BD31-4B8C-83A1-F6EECF244321}">
                <p14:modId xmlns:p14="http://schemas.microsoft.com/office/powerpoint/2010/main" val="3003830100"/>
              </p:ext>
            </p:extLst>
          </p:nvPr>
        </p:nvGraphicFramePr>
        <p:xfrm>
          <a:off x="6512887" y="1225192"/>
          <a:ext cx="5403809" cy="37856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549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593E-2F21-D939-9C37-318B14B144F6}"/>
              </a:ext>
            </a:extLst>
          </p:cNvPr>
          <p:cNvSpPr>
            <a:spLocks noGrp="1"/>
          </p:cNvSpPr>
          <p:nvPr>
            <p:ph type="ctrTitle"/>
          </p:nvPr>
        </p:nvSpPr>
        <p:spPr>
          <a:xfrm>
            <a:off x="981542" y="812800"/>
            <a:ext cx="5288290" cy="1709928"/>
          </a:xfrm>
        </p:spPr>
        <p:txBody>
          <a:bodyPr/>
          <a:lstStyle/>
          <a:p>
            <a:r>
              <a:rPr lang="en-IN" sz="4800" dirty="0"/>
              <a:t>RESOLUTION TIME DISTRIBUTION</a:t>
            </a:r>
          </a:p>
        </p:txBody>
      </p:sp>
      <p:sp>
        <p:nvSpPr>
          <p:cNvPr id="3" name="Subtitle 2">
            <a:extLst>
              <a:ext uri="{FF2B5EF4-FFF2-40B4-BE49-F238E27FC236}">
                <a16:creationId xmlns:a16="http://schemas.microsoft.com/office/drawing/2014/main" id="{3F8A2C42-09BB-7033-1242-90A0CDCF4353}"/>
              </a:ext>
            </a:extLst>
          </p:cNvPr>
          <p:cNvSpPr>
            <a:spLocks noGrp="1"/>
          </p:cNvSpPr>
          <p:nvPr>
            <p:ph type="subTitle" idx="1"/>
          </p:nvPr>
        </p:nvSpPr>
        <p:spPr>
          <a:xfrm>
            <a:off x="1112509" y="2359742"/>
            <a:ext cx="4983491" cy="2969342"/>
          </a:xfrm>
        </p:spPr>
        <p:txBody>
          <a:bodyPr/>
          <a:lstStyle/>
          <a:p>
            <a:r>
              <a:rPr lang="en-US" sz="2000" b="1" dirty="0"/>
              <a:t>Observations</a:t>
            </a:r>
          </a:p>
          <a:p>
            <a:pPr marL="285750" indent="-285750">
              <a:buFont typeface="Arial" panose="020B0604020202020204" pitchFamily="34" charset="0"/>
              <a:buChar char="•"/>
            </a:pPr>
            <a:r>
              <a:rPr lang="en-US" sz="2000" dirty="0"/>
              <a:t>Majority of tickets are resolved within </a:t>
            </a:r>
            <a:r>
              <a:rPr lang="en-US" sz="2000" b="1" dirty="0"/>
              <a:t>3–6 days</a:t>
            </a:r>
          </a:p>
          <a:p>
            <a:pPr marL="285750" indent="-285750">
              <a:buFont typeface="Arial" panose="020B0604020202020204" pitchFamily="34" charset="0"/>
              <a:buChar char="•"/>
            </a:pPr>
            <a:r>
              <a:rPr lang="en-US" sz="2000" dirty="0"/>
              <a:t>A smaller portion extends beyond this range</a:t>
            </a:r>
          </a:p>
          <a:p>
            <a:pPr marL="285750" indent="-285750">
              <a:buFont typeface="Arial" panose="020B0604020202020204" pitchFamily="34" charset="0"/>
              <a:buChar char="•"/>
            </a:pPr>
            <a:r>
              <a:rPr lang="en-US" sz="2000" dirty="0"/>
              <a:t>Long resolution cases impact SLA compliance</a:t>
            </a:r>
          </a:p>
          <a:p>
            <a:r>
              <a:rPr lang="en-US" sz="2000" b="1" dirty="0"/>
              <a:t>Insight</a:t>
            </a:r>
          </a:p>
          <a:p>
            <a:pPr marL="285750" indent="-285750">
              <a:buFont typeface="Arial" panose="020B0604020202020204" pitchFamily="34" charset="0"/>
              <a:buChar char="•"/>
            </a:pPr>
            <a:r>
              <a:rPr lang="en-US" sz="2000" dirty="0"/>
              <a:t>Delay is caused by complexity and skill gaps</a:t>
            </a:r>
          </a:p>
          <a:p>
            <a:pPr marL="285750" indent="-285750">
              <a:buFont typeface="Arial" panose="020B0604020202020204" pitchFamily="34" charset="0"/>
              <a:buChar char="•"/>
            </a:pPr>
            <a:r>
              <a:rPr lang="en-US" sz="2000" dirty="0"/>
              <a:t>Optimizing resolution workflow can reduce turnaround time</a:t>
            </a:r>
          </a:p>
          <a:p>
            <a:endParaRPr lang="en-IN" sz="2000" dirty="0"/>
          </a:p>
        </p:txBody>
      </p:sp>
      <p:graphicFrame>
        <p:nvGraphicFramePr>
          <p:cNvPr id="5" name="Picture Placeholder 4">
            <a:extLst>
              <a:ext uri="{FF2B5EF4-FFF2-40B4-BE49-F238E27FC236}">
                <a16:creationId xmlns:a16="http://schemas.microsoft.com/office/drawing/2014/main" id="{4A2211F8-6BEF-412C-A13F-1838CE1E7A76}"/>
              </a:ext>
            </a:extLst>
          </p:cNvPr>
          <p:cNvGraphicFramePr>
            <a:graphicFrameLocks noGrp="1"/>
          </p:cNvGraphicFramePr>
          <p:nvPr>
            <p:ph type="pic" sz="quarter" idx="10"/>
            <p:extLst>
              <p:ext uri="{D42A27DB-BD31-4B8C-83A1-F6EECF244321}">
                <p14:modId xmlns:p14="http://schemas.microsoft.com/office/powerpoint/2010/main" val="562734871"/>
              </p:ext>
            </p:extLst>
          </p:nvPr>
        </p:nvGraphicFramePr>
        <p:xfrm>
          <a:off x="6443663" y="812800"/>
          <a:ext cx="4635500" cy="4927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16522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4A5806-6FEE-D153-AB61-D560A1C1F569}"/>
              </a:ext>
            </a:extLst>
          </p:cNvPr>
          <p:cNvSpPr>
            <a:spLocks noGrp="1"/>
          </p:cNvSpPr>
          <p:nvPr>
            <p:ph type="sldNum" sz="quarter" idx="12"/>
          </p:nvPr>
        </p:nvSpPr>
        <p:spPr/>
        <p:txBody>
          <a:bodyPr/>
          <a:lstStyle/>
          <a:p>
            <a:fld id="{8D0AFDD5-844D-364D-8AEC-50CF4D36D55D}" type="slidenum">
              <a:rPr lang="en-US" noProof="0" smtClean="0"/>
              <a:t>13</a:t>
            </a:fld>
            <a:endParaRPr lang="en-US" noProof="0"/>
          </a:p>
        </p:txBody>
      </p:sp>
      <p:sp>
        <p:nvSpPr>
          <p:cNvPr id="3" name="Footer Placeholder 2">
            <a:extLst>
              <a:ext uri="{FF2B5EF4-FFF2-40B4-BE49-F238E27FC236}">
                <a16:creationId xmlns:a16="http://schemas.microsoft.com/office/drawing/2014/main" id="{B92457D0-DC78-2D71-6FA6-C94EA29F6C1F}"/>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21E4FEC0-0994-0729-5B8B-3970A446AC4D}"/>
              </a:ext>
            </a:extLst>
          </p:cNvPr>
          <p:cNvSpPr>
            <a:spLocks noGrp="1"/>
          </p:cNvSpPr>
          <p:nvPr>
            <p:ph type="dt" sz="half" idx="10"/>
          </p:nvPr>
        </p:nvSpPr>
        <p:spPr/>
        <p:txBody>
          <a:bodyPr/>
          <a:lstStyle/>
          <a:p>
            <a:r>
              <a:rPr lang="en-US" noProof="0"/>
              <a:t>20XX</a:t>
            </a:r>
          </a:p>
        </p:txBody>
      </p:sp>
      <p:sp>
        <p:nvSpPr>
          <p:cNvPr id="6" name="TextBox 5">
            <a:extLst>
              <a:ext uri="{FF2B5EF4-FFF2-40B4-BE49-F238E27FC236}">
                <a16:creationId xmlns:a16="http://schemas.microsoft.com/office/drawing/2014/main" id="{105DC059-9B0B-773C-2FAC-7EFBDB787AA3}"/>
              </a:ext>
            </a:extLst>
          </p:cNvPr>
          <p:cNvSpPr txBox="1"/>
          <p:nvPr/>
        </p:nvSpPr>
        <p:spPr>
          <a:xfrm>
            <a:off x="521109" y="356108"/>
            <a:ext cx="11169445" cy="830997"/>
          </a:xfrm>
          <a:prstGeom prst="rect">
            <a:avLst/>
          </a:prstGeom>
          <a:noFill/>
        </p:spPr>
        <p:txBody>
          <a:bodyPr wrap="square">
            <a:spAutoFit/>
          </a:bodyPr>
          <a:lstStyle/>
          <a:p>
            <a:pPr algn="ctr"/>
            <a:r>
              <a:rPr lang="en-IN" sz="4800" dirty="0"/>
              <a:t>EMPLOYEE SATISFACTION TREND</a:t>
            </a:r>
          </a:p>
        </p:txBody>
      </p:sp>
      <p:sp>
        <p:nvSpPr>
          <p:cNvPr id="8" name="TextBox 7">
            <a:extLst>
              <a:ext uri="{FF2B5EF4-FFF2-40B4-BE49-F238E27FC236}">
                <a16:creationId xmlns:a16="http://schemas.microsoft.com/office/drawing/2014/main" id="{420C9E0B-F6D1-432C-ED7D-41B169819C28}"/>
              </a:ext>
            </a:extLst>
          </p:cNvPr>
          <p:cNvSpPr txBox="1"/>
          <p:nvPr/>
        </p:nvSpPr>
        <p:spPr>
          <a:xfrm>
            <a:off x="838200" y="1997839"/>
            <a:ext cx="5090652" cy="2862322"/>
          </a:xfrm>
          <a:prstGeom prst="rect">
            <a:avLst/>
          </a:prstGeom>
          <a:noFill/>
        </p:spPr>
        <p:txBody>
          <a:bodyPr wrap="square">
            <a:spAutoFit/>
          </a:bodyPr>
          <a:lstStyle/>
          <a:p>
            <a:pPr>
              <a:buNone/>
            </a:pPr>
            <a:r>
              <a:rPr lang="en-US" sz="2000" b="1" dirty="0"/>
              <a:t>Observations</a:t>
            </a:r>
          </a:p>
          <a:p>
            <a:pPr>
              <a:buFont typeface="Arial" panose="020B0604020202020204" pitchFamily="34" charset="0"/>
              <a:buChar char="•"/>
            </a:pPr>
            <a:r>
              <a:rPr lang="en-US" sz="2000" dirty="0"/>
              <a:t>Satisfaction levels remain mostly stable over the time period</a:t>
            </a:r>
          </a:p>
          <a:p>
            <a:pPr>
              <a:buFont typeface="Arial" panose="020B0604020202020204" pitchFamily="34" charset="0"/>
              <a:buChar char="•"/>
            </a:pPr>
            <a:r>
              <a:rPr lang="en-US" sz="2000" dirty="0"/>
              <a:t>Minor fluctuations indicate varying service quality</a:t>
            </a:r>
          </a:p>
          <a:p>
            <a:pPr>
              <a:buFont typeface="Arial" panose="020B0604020202020204" pitchFamily="34" charset="0"/>
              <a:buChar char="•"/>
            </a:pPr>
            <a:r>
              <a:rPr lang="en-US" sz="2000" dirty="0"/>
              <a:t>No extreme decline observed</a:t>
            </a:r>
          </a:p>
          <a:p>
            <a:pPr>
              <a:buNone/>
            </a:pPr>
            <a:r>
              <a:rPr lang="en-US" sz="2000" b="1" dirty="0"/>
              <a:t>Insight</a:t>
            </a:r>
          </a:p>
          <a:p>
            <a:pPr marL="342900" indent="-342900">
              <a:buFont typeface="Arial" panose="020B0604020202020204" pitchFamily="34" charset="0"/>
              <a:buChar char="•"/>
            </a:pPr>
            <a:r>
              <a:rPr lang="en-US" sz="2000" dirty="0"/>
              <a:t> Overall service quality is consistent</a:t>
            </a:r>
          </a:p>
          <a:p>
            <a:pPr marL="342900" indent="-342900">
              <a:buFont typeface="Arial" panose="020B0604020202020204" pitchFamily="34" charset="0"/>
              <a:buChar char="•"/>
            </a:pPr>
            <a:r>
              <a:rPr lang="en-US" sz="2000" dirty="0"/>
              <a:t>Training and process improvement can further increase satisfaction</a:t>
            </a:r>
          </a:p>
        </p:txBody>
      </p:sp>
      <p:graphicFrame>
        <p:nvGraphicFramePr>
          <p:cNvPr id="9" name="Chart 8">
            <a:extLst>
              <a:ext uri="{FF2B5EF4-FFF2-40B4-BE49-F238E27FC236}">
                <a16:creationId xmlns:a16="http://schemas.microsoft.com/office/drawing/2014/main" id="{EA516D1F-843A-4F71-AEE4-D45905752F7C}"/>
              </a:ext>
            </a:extLst>
          </p:cNvPr>
          <p:cNvGraphicFramePr>
            <a:graphicFrameLocks/>
          </p:cNvGraphicFramePr>
          <p:nvPr>
            <p:extLst>
              <p:ext uri="{D42A27DB-BD31-4B8C-83A1-F6EECF244321}">
                <p14:modId xmlns:p14="http://schemas.microsoft.com/office/powerpoint/2010/main" val="3161338382"/>
              </p:ext>
            </p:extLst>
          </p:nvPr>
        </p:nvGraphicFramePr>
        <p:xfrm>
          <a:off x="5749411" y="1355644"/>
          <a:ext cx="6255775" cy="409082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29538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208222-D4A1-3CF5-F940-28549A04B3AA}"/>
              </a:ext>
            </a:extLst>
          </p:cNvPr>
          <p:cNvSpPr>
            <a:spLocks noGrp="1"/>
          </p:cNvSpPr>
          <p:nvPr>
            <p:ph type="sldNum" sz="quarter" idx="12"/>
          </p:nvPr>
        </p:nvSpPr>
        <p:spPr/>
        <p:txBody>
          <a:bodyPr/>
          <a:lstStyle/>
          <a:p>
            <a:fld id="{8D0AFDD5-844D-364D-8AEC-50CF4D36D55D}" type="slidenum">
              <a:rPr lang="en-US" noProof="0" smtClean="0"/>
              <a:t>14</a:t>
            </a:fld>
            <a:endParaRPr lang="en-US" noProof="0"/>
          </a:p>
        </p:txBody>
      </p:sp>
      <p:sp>
        <p:nvSpPr>
          <p:cNvPr id="3" name="Footer Placeholder 2">
            <a:extLst>
              <a:ext uri="{FF2B5EF4-FFF2-40B4-BE49-F238E27FC236}">
                <a16:creationId xmlns:a16="http://schemas.microsoft.com/office/drawing/2014/main" id="{8988B631-33D3-64B1-18EB-5866711A53D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68C8CFE1-9EF3-FA68-2FE6-98205AA36626}"/>
              </a:ext>
            </a:extLst>
          </p:cNvPr>
          <p:cNvSpPr>
            <a:spLocks noGrp="1"/>
          </p:cNvSpPr>
          <p:nvPr>
            <p:ph type="dt" sz="half" idx="10"/>
          </p:nvPr>
        </p:nvSpPr>
        <p:spPr/>
        <p:txBody>
          <a:bodyPr/>
          <a:lstStyle/>
          <a:p>
            <a:r>
              <a:rPr lang="en-US" noProof="0"/>
              <a:t>20XX</a:t>
            </a:r>
          </a:p>
        </p:txBody>
      </p:sp>
      <p:sp>
        <p:nvSpPr>
          <p:cNvPr id="7" name="TextBox 6">
            <a:extLst>
              <a:ext uri="{FF2B5EF4-FFF2-40B4-BE49-F238E27FC236}">
                <a16:creationId xmlns:a16="http://schemas.microsoft.com/office/drawing/2014/main" id="{FEFDEDD6-1AAF-B63D-DF73-3934B833413D}"/>
              </a:ext>
            </a:extLst>
          </p:cNvPr>
          <p:cNvSpPr txBox="1"/>
          <p:nvPr/>
        </p:nvSpPr>
        <p:spPr>
          <a:xfrm>
            <a:off x="758313" y="206253"/>
            <a:ext cx="10675374" cy="830997"/>
          </a:xfrm>
          <a:prstGeom prst="rect">
            <a:avLst/>
          </a:prstGeom>
          <a:noFill/>
        </p:spPr>
        <p:txBody>
          <a:bodyPr wrap="square">
            <a:spAutoFit/>
          </a:bodyPr>
          <a:lstStyle/>
          <a:p>
            <a:pPr algn="ctr"/>
            <a:r>
              <a:rPr lang="en-IN" sz="4800" dirty="0"/>
              <a:t>SATISFACTION TREND OVER TIME</a:t>
            </a:r>
          </a:p>
        </p:txBody>
      </p:sp>
      <p:sp>
        <p:nvSpPr>
          <p:cNvPr id="9" name="TextBox 8">
            <a:extLst>
              <a:ext uri="{FF2B5EF4-FFF2-40B4-BE49-F238E27FC236}">
                <a16:creationId xmlns:a16="http://schemas.microsoft.com/office/drawing/2014/main" id="{2F81A554-3920-BF73-8FC5-BB4531434661}"/>
              </a:ext>
            </a:extLst>
          </p:cNvPr>
          <p:cNvSpPr txBox="1"/>
          <p:nvPr/>
        </p:nvSpPr>
        <p:spPr>
          <a:xfrm>
            <a:off x="838200" y="1989262"/>
            <a:ext cx="6100916" cy="2369880"/>
          </a:xfrm>
          <a:prstGeom prst="rect">
            <a:avLst/>
          </a:prstGeom>
          <a:noFill/>
        </p:spPr>
        <p:txBody>
          <a:bodyPr wrap="square">
            <a:spAutoFit/>
          </a:bodyPr>
          <a:lstStyle/>
          <a:p>
            <a:pPr>
              <a:buNone/>
            </a:pPr>
            <a:r>
              <a:rPr lang="en-US" sz="2400" b="1" dirty="0"/>
              <a:t>Observations</a:t>
            </a:r>
          </a:p>
          <a:p>
            <a:pPr>
              <a:buFont typeface="Arial" panose="020B0604020202020204" pitchFamily="34" charset="0"/>
              <a:buChar char="•"/>
            </a:pPr>
            <a:r>
              <a:rPr lang="en-US" sz="2000" dirty="0"/>
              <a:t>Satisfaction remains between 3.9 and 4.3</a:t>
            </a:r>
          </a:p>
          <a:p>
            <a:pPr>
              <a:buFont typeface="Arial" panose="020B0604020202020204" pitchFamily="34" charset="0"/>
              <a:buChar char="•"/>
            </a:pPr>
            <a:r>
              <a:rPr lang="en-US" sz="2000" dirty="0"/>
              <a:t>Slight improvement over time</a:t>
            </a:r>
          </a:p>
          <a:p>
            <a:pPr>
              <a:buFont typeface="Arial" panose="020B0604020202020204" pitchFamily="34" charset="0"/>
              <a:buChar char="•"/>
            </a:pPr>
            <a:r>
              <a:rPr lang="en-US" sz="2000" dirty="0"/>
              <a:t>Stable performance despite increasing ticket count</a:t>
            </a:r>
          </a:p>
          <a:p>
            <a:pPr>
              <a:buNone/>
            </a:pPr>
            <a:r>
              <a:rPr lang="en-US" sz="2400" b="1" dirty="0"/>
              <a:t>Insight</a:t>
            </a:r>
          </a:p>
          <a:p>
            <a:pPr marL="342900" indent="-342900">
              <a:buFont typeface="Arial" panose="020B0604020202020204" pitchFamily="34" charset="0"/>
              <a:buChar char="•"/>
            </a:pPr>
            <a:r>
              <a:rPr lang="en-US" sz="2000" dirty="0"/>
              <a:t> Service quality is consistent</a:t>
            </a:r>
          </a:p>
          <a:p>
            <a:pPr marL="342900" indent="-342900">
              <a:buFont typeface="Arial" panose="020B0604020202020204" pitchFamily="34" charset="0"/>
              <a:buChar char="•"/>
            </a:pPr>
            <a:r>
              <a:rPr lang="en-US" sz="2000" dirty="0"/>
              <a:t> Improvement possible through better resolution speed</a:t>
            </a:r>
          </a:p>
        </p:txBody>
      </p:sp>
      <p:graphicFrame>
        <p:nvGraphicFramePr>
          <p:cNvPr id="10" name="Chart 9">
            <a:extLst>
              <a:ext uri="{FF2B5EF4-FFF2-40B4-BE49-F238E27FC236}">
                <a16:creationId xmlns:a16="http://schemas.microsoft.com/office/drawing/2014/main" id="{C2918F75-EF10-417E-8D7C-58EA840D6F39}"/>
              </a:ext>
            </a:extLst>
          </p:cNvPr>
          <p:cNvGraphicFramePr>
            <a:graphicFrameLocks/>
          </p:cNvGraphicFramePr>
          <p:nvPr>
            <p:extLst>
              <p:ext uri="{D42A27DB-BD31-4B8C-83A1-F6EECF244321}">
                <p14:modId xmlns:p14="http://schemas.microsoft.com/office/powerpoint/2010/main" val="216929597"/>
              </p:ext>
            </p:extLst>
          </p:nvPr>
        </p:nvGraphicFramePr>
        <p:xfrm>
          <a:off x="6469626" y="1201010"/>
          <a:ext cx="5653548" cy="38232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81191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CE5E2-0714-EAC4-FA3A-54FAEE8CDB77}"/>
              </a:ext>
            </a:extLst>
          </p:cNvPr>
          <p:cNvSpPr>
            <a:spLocks noGrp="1"/>
          </p:cNvSpPr>
          <p:nvPr>
            <p:ph type="title"/>
          </p:nvPr>
        </p:nvSpPr>
        <p:spPr>
          <a:xfrm>
            <a:off x="1139952" y="105249"/>
            <a:ext cx="9912096" cy="1014984"/>
          </a:xfrm>
        </p:spPr>
        <p:txBody>
          <a:bodyPr/>
          <a:lstStyle/>
          <a:p>
            <a:r>
              <a:rPr lang="en-IN" sz="4800" dirty="0"/>
              <a:t>RECOMMENDATIONS</a:t>
            </a:r>
          </a:p>
        </p:txBody>
      </p:sp>
      <p:sp>
        <p:nvSpPr>
          <p:cNvPr id="3" name="Content Placeholder 2">
            <a:extLst>
              <a:ext uri="{FF2B5EF4-FFF2-40B4-BE49-F238E27FC236}">
                <a16:creationId xmlns:a16="http://schemas.microsoft.com/office/drawing/2014/main" id="{7D62BC3D-E3E6-BD20-5335-1717016E5898}"/>
              </a:ext>
            </a:extLst>
          </p:cNvPr>
          <p:cNvSpPr>
            <a:spLocks noGrp="1"/>
          </p:cNvSpPr>
          <p:nvPr>
            <p:ph idx="1"/>
          </p:nvPr>
        </p:nvSpPr>
        <p:spPr>
          <a:xfrm>
            <a:off x="484632" y="983226"/>
            <a:ext cx="11000232" cy="5417678"/>
          </a:xfrm>
        </p:spPr>
        <p:txBody>
          <a:bodyPr/>
          <a:lstStyle/>
          <a:p>
            <a:r>
              <a:rPr lang="en-US" sz="2400" b="1" dirty="0"/>
              <a:t>Project Recommendations Based on Dashboard Analysis</a:t>
            </a:r>
          </a:p>
          <a:p>
            <a:r>
              <a:rPr lang="en-US" sz="2000" dirty="0"/>
              <a:t>Based on the analysis of ticket volume, resolution time, satisfaction trends, severity–priority alignment, and agent performance, the following recommendations are proposed:</a:t>
            </a:r>
          </a:p>
          <a:p>
            <a:r>
              <a:rPr lang="en-US" sz="2400" b="1" dirty="0"/>
              <a:t>Strengthen Training Programs</a:t>
            </a:r>
            <a:endParaRPr lang="en-US" sz="2400" dirty="0"/>
          </a:p>
          <a:p>
            <a:pPr lvl="1"/>
            <a:r>
              <a:rPr lang="en-US" sz="2000" dirty="0"/>
              <a:t>Resolution time and satisfaction levels vary significantly among agents.</a:t>
            </a:r>
          </a:p>
          <a:p>
            <a:pPr lvl="1"/>
            <a:r>
              <a:rPr lang="en-US" sz="2000" dirty="0"/>
              <a:t>Targeted technical and process-based training should be introduced for low-performing agents.</a:t>
            </a:r>
          </a:p>
          <a:p>
            <a:pPr lvl="1"/>
            <a:r>
              <a:rPr lang="en-US" sz="2000" dirty="0"/>
              <a:t>Regular upskilling will improve first-time resolution and customer experience.</a:t>
            </a:r>
          </a:p>
          <a:p>
            <a:r>
              <a:rPr lang="en-US" sz="2400" b="1" dirty="0"/>
              <a:t>Upgrade Ticket Management System</a:t>
            </a:r>
            <a:endParaRPr lang="en-US" sz="2400" dirty="0"/>
          </a:p>
          <a:p>
            <a:pPr lvl="1"/>
            <a:r>
              <a:rPr lang="en-US" sz="2000" dirty="0"/>
              <a:t>High-severity tickets are frequently misclassified or left unassigned.</a:t>
            </a:r>
          </a:p>
          <a:p>
            <a:pPr lvl="1"/>
            <a:r>
              <a:rPr lang="en-US" sz="2000" dirty="0"/>
              <a:t>Implement automated priority mapping based on severity.</a:t>
            </a:r>
          </a:p>
          <a:p>
            <a:pPr lvl="1"/>
            <a:r>
              <a:rPr lang="en-US" sz="2000" dirty="0"/>
              <a:t>Introduce SLA-based routing and alerts to reduce delays.</a:t>
            </a:r>
          </a:p>
          <a:p>
            <a:pPr marL="0" indent="0">
              <a:buNone/>
            </a:pPr>
            <a:endParaRPr lang="en-IN" sz="1800" dirty="0"/>
          </a:p>
        </p:txBody>
      </p:sp>
      <p:sp>
        <p:nvSpPr>
          <p:cNvPr id="4" name="Slide Number Placeholder 3">
            <a:extLst>
              <a:ext uri="{FF2B5EF4-FFF2-40B4-BE49-F238E27FC236}">
                <a16:creationId xmlns:a16="http://schemas.microsoft.com/office/drawing/2014/main" id="{DE0B890C-00EF-2949-3B69-DB17CB977ECB}"/>
              </a:ext>
            </a:extLst>
          </p:cNvPr>
          <p:cNvSpPr>
            <a:spLocks noGrp="1"/>
          </p:cNvSpPr>
          <p:nvPr>
            <p:ph type="sldNum" sz="quarter" idx="12"/>
          </p:nvPr>
        </p:nvSpPr>
        <p:spPr/>
        <p:txBody>
          <a:bodyPr/>
          <a:lstStyle/>
          <a:p>
            <a:fld id="{8D0AFDD5-844D-364D-8AEC-50CF4D36D55D}" type="slidenum">
              <a:rPr lang="en-US" noProof="0" smtClean="0"/>
              <a:t>15</a:t>
            </a:fld>
            <a:endParaRPr lang="en-US" noProof="0"/>
          </a:p>
        </p:txBody>
      </p:sp>
      <p:sp>
        <p:nvSpPr>
          <p:cNvPr id="5" name="Footer Placeholder 4">
            <a:extLst>
              <a:ext uri="{FF2B5EF4-FFF2-40B4-BE49-F238E27FC236}">
                <a16:creationId xmlns:a16="http://schemas.microsoft.com/office/drawing/2014/main" id="{FF489395-BB09-7A45-2C4D-3B8304E2C1A6}"/>
              </a:ext>
            </a:extLst>
          </p:cNvPr>
          <p:cNvSpPr>
            <a:spLocks noGrp="1"/>
          </p:cNvSpPr>
          <p:nvPr>
            <p:ph type="ftr" sz="quarter" idx="11"/>
          </p:nvPr>
        </p:nvSpPr>
        <p:spPr/>
        <p:txBody>
          <a:bodyPr/>
          <a:lstStyle/>
          <a:p>
            <a:r>
              <a:rPr lang="en-US" noProof="0" dirty="0"/>
              <a:t>Presentation title</a:t>
            </a:r>
          </a:p>
        </p:txBody>
      </p:sp>
      <p:sp>
        <p:nvSpPr>
          <p:cNvPr id="6" name="Date Placeholder 5">
            <a:extLst>
              <a:ext uri="{FF2B5EF4-FFF2-40B4-BE49-F238E27FC236}">
                <a16:creationId xmlns:a16="http://schemas.microsoft.com/office/drawing/2014/main" id="{83101039-D14B-9C53-877B-5D7F962986BD}"/>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295600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2F509F-4546-2D12-F3D5-E733C1381180}"/>
              </a:ext>
            </a:extLst>
          </p:cNvPr>
          <p:cNvSpPr>
            <a:spLocks noGrp="1"/>
          </p:cNvSpPr>
          <p:nvPr>
            <p:ph type="sldNum" sz="quarter" idx="12"/>
          </p:nvPr>
        </p:nvSpPr>
        <p:spPr/>
        <p:txBody>
          <a:bodyPr/>
          <a:lstStyle/>
          <a:p>
            <a:fld id="{8D0AFDD5-844D-364D-8AEC-50CF4D36D55D}" type="slidenum">
              <a:rPr lang="en-US" noProof="0" smtClean="0"/>
              <a:t>16</a:t>
            </a:fld>
            <a:endParaRPr lang="en-US" noProof="0"/>
          </a:p>
        </p:txBody>
      </p:sp>
      <p:sp>
        <p:nvSpPr>
          <p:cNvPr id="4" name="Footer Placeholder 3">
            <a:extLst>
              <a:ext uri="{FF2B5EF4-FFF2-40B4-BE49-F238E27FC236}">
                <a16:creationId xmlns:a16="http://schemas.microsoft.com/office/drawing/2014/main" id="{E58AB860-035F-3F69-CBD2-9196A3F24733}"/>
              </a:ext>
            </a:extLst>
          </p:cNvPr>
          <p:cNvSpPr>
            <a:spLocks noGrp="1"/>
          </p:cNvSpPr>
          <p:nvPr>
            <p:ph type="ftr" sz="quarter" idx="11"/>
          </p:nvPr>
        </p:nvSpPr>
        <p:spPr/>
        <p:txBody>
          <a:bodyPr/>
          <a:lstStyle/>
          <a:p>
            <a:r>
              <a:rPr lang="en-US" noProof="0"/>
              <a:t>Presentation title</a:t>
            </a:r>
          </a:p>
        </p:txBody>
      </p:sp>
      <p:sp>
        <p:nvSpPr>
          <p:cNvPr id="5" name="Date Placeholder 4">
            <a:extLst>
              <a:ext uri="{FF2B5EF4-FFF2-40B4-BE49-F238E27FC236}">
                <a16:creationId xmlns:a16="http://schemas.microsoft.com/office/drawing/2014/main" id="{D5D6B7A8-0816-76D4-2D3E-DD1AAAE4C3F7}"/>
              </a:ext>
            </a:extLst>
          </p:cNvPr>
          <p:cNvSpPr>
            <a:spLocks noGrp="1"/>
          </p:cNvSpPr>
          <p:nvPr>
            <p:ph type="dt" sz="half" idx="10"/>
          </p:nvPr>
        </p:nvSpPr>
        <p:spPr/>
        <p:txBody>
          <a:bodyPr/>
          <a:lstStyle/>
          <a:p>
            <a:r>
              <a:rPr lang="en-US" noProof="0"/>
              <a:t>20XX</a:t>
            </a:r>
          </a:p>
        </p:txBody>
      </p:sp>
      <p:sp>
        <p:nvSpPr>
          <p:cNvPr id="9" name="TextBox 8">
            <a:extLst>
              <a:ext uri="{FF2B5EF4-FFF2-40B4-BE49-F238E27FC236}">
                <a16:creationId xmlns:a16="http://schemas.microsoft.com/office/drawing/2014/main" id="{DA97A9E0-7121-D94A-4519-1BC2A50F838D}"/>
              </a:ext>
            </a:extLst>
          </p:cNvPr>
          <p:cNvSpPr txBox="1"/>
          <p:nvPr/>
        </p:nvSpPr>
        <p:spPr>
          <a:xfrm>
            <a:off x="1021080" y="744179"/>
            <a:ext cx="6100916" cy="3467103"/>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00"/>
                </a:solidFill>
                <a:effectLst/>
                <a:uLnTx/>
                <a:uFillTx/>
                <a:latin typeface="Univers Condensed Light"/>
                <a:ea typeface="+mn-ea"/>
                <a:cs typeface="+mn-cs"/>
              </a:rPr>
              <a:t>Optimize Existing Workforce Before Hiring</a:t>
            </a:r>
            <a:endParaRPr kumimoji="0" lang="en-US" sz="2400" b="0" i="0" u="none" strike="noStrike" kern="1200" cap="none" spc="0" normalizeH="0" baseline="0" noProof="0" dirty="0">
              <a:ln>
                <a:noFill/>
              </a:ln>
              <a:solidFill>
                <a:srgbClr val="000000"/>
              </a:solidFill>
              <a:effectLst/>
              <a:uLnTx/>
              <a:uFillTx/>
              <a:latin typeface="Univers Condensed Light"/>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Univers Condensed Light"/>
                <a:ea typeface="+mn-ea"/>
                <a:cs typeface="+mn-cs"/>
              </a:rPr>
              <a:t>Ticket distribution is balanced across agents.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Univers Condensed Light"/>
                <a:ea typeface="+mn-ea"/>
                <a:cs typeface="+mn-cs"/>
              </a:rPr>
              <a:t>Current staffing levels are sufficient.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Univers Condensed Light"/>
                <a:ea typeface="+mn-ea"/>
                <a:cs typeface="+mn-cs"/>
              </a:rPr>
              <a:t>Hiring should only be considered after training and automation improvements.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00"/>
                </a:solidFill>
                <a:effectLst/>
                <a:uLnTx/>
                <a:uFillTx/>
                <a:latin typeface="Univers Condensed Light"/>
                <a:ea typeface="+mn-ea"/>
                <a:cs typeface="+mn-cs"/>
              </a:rPr>
              <a:t>Improve SLA Monitoring</a:t>
            </a:r>
            <a:endParaRPr kumimoji="0" lang="en-US" sz="2400" b="0" i="0" u="none" strike="noStrike" kern="1200" cap="none" spc="0" normalizeH="0" baseline="0" noProof="0" dirty="0">
              <a:ln>
                <a:noFill/>
              </a:ln>
              <a:solidFill>
                <a:srgbClr val="000000"/>
              </a:solidFill>
              <a:effectLst/>
              <a:uLnTx/>
              <a:uFillTx/>
              <a:latin typeface="Univers Condensed Light"/>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Univers Condensed Light"/>
                <a:ea typeface="+mn-ea"/>
                <a:cs typeface="+mn-cs"/>
              </a:rPr>
              <a:t>Only 53.27% of tickets are resolved within SLA.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Univers Condensed Light"/>
                <a:ea typeface="+mn-ea"/>
                <a:cs typeface="+mn-cs"/>
              </a:rPr>
              <a:t>Real-time SLA tracking and escalation rules should be enforced.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000000"/>
              </a:solidFill>
              <a:effectLst/>
              <a:uLnTx/>
              <a:uFillTx/>
              <a:latin typeface="Univers Condensed Light"/>
              <a:ea typeface="+mn-ea"/>
              <a:cs typeface="+mn-cs"/>
            </a:endParaRPr>
          </a:p>
        </p:txBody>
      </p:sp>
    </p:spTree>
    <p:extLst>
      <p:ext uri="{BB962C8B-B14F-4D97-AF65-F5344CB8AC3E}">
        <p14:creationId xmlns:p14="http://schemas.microsoft.com/office/powerpoint/2010/main" val="2209048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5D9670-881D-33B9-D701-EC599C6FB201}"/>
              </a:ext>
            </a:extLst>
          </p:cNvPr>
          <p:cNvSpPr>
            <a:spLocks noGrp="1"/>
          </p:cNvSpPr>
          <p:nvPr>
            <p:ph type="sldNum" sz="quarter" idx="12"/>
          </p:nvPr>
        </p:nvSpPr>
        <p:spPr/>
        <p:txBody>
          <a:bodyPr/>
          <a:lstStyle/>
          <a:p>
            <a:fld id="{8D0AFDD5-844D-364D-8AEC-50CF4D36D55D}" type="slidenum">
              <a:rPr lang="en-US" noProof="0" smtClean="0"/>
              <a:t>17</a:t>
            </a:fld>
            <a:endParaRPr lang="en-US" noProof="0"/>
          </a:p>
        </p:txBody>
      </p:sp>
      <p:sp>
        <p:nvSpPr>
          <p:cNvPr id="3" name="Footer Placeholder 2">
            <a:extLst>
              <a:ext uri="{FF2B5EF4-FFF2-40B4-BE49-F238E27FC236}">
                <a16:creationId xmlns:a16="http://schemas.microsoft.com/office/drawing/2014/main" id="{E3E3358C-84B3-2507-01FD-A8ACCC414F1F}"/>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41F48BB5-6877-0133-1065-D872694D5D95}"/>
              </a:ext>
            </a:extLst>
          </p:cNvPr>
          <p:cNvSpPr>
            <a:spLocks noGrp="1"/>
          </p:cNvSpPr>
          <p:nvPr>
            <p:ph type="dt" sz="half" idx="10"/>
          </p:nvPr>
        </p:nvSpPr>
        <p:spPr/>
        <p:txBody>
          <a:bodyPr/>
          <a:lstStyle/>
          <a:p>
            <a:r>
              <a:rPr lang="en-US" noProof="0"/>
              <a:t>20XX</a:t>
            </a:r>
          </a:p>
        </p:txBody>
      </p:sp>
      <p:sp>
        <p:nvSpPr>
          <p:cNvPr id="6" name="TextBox 5">
            <a:extLst>
              <a:ext uri="{FF2B5EF4-FFF2-40B4-BE49-F238E27FC236}">
                <a16:creationId xmlns:a16="http://schemas.microsoft.com/office/drawing/2014/main" id="{62741F8C-03EE-679A-EA8E-A6F7E67A681E}"/>
              </a:ext>
            </a:extLst>
          </p:cNvPr>
          <p:cNvSpPr txBox="1"/>
          <p:nvPr/>
        </p:nvSpPr>
        <p:spPr>
          <a:xfrm>
            <a:off x="838200" y="1296272"/>
            <a:ext cx="10431025" cy="3477875"/>
          </a:xfrm>
          <a:prstGeom prst="rect">
            <a:avLst/>
          </a:prstGeom>
          <a:noFill/>
        </p:spPr>
        <p:txBody>
          <a:bodyPr wrap="square">
            <a:spAutoFit/>
          </a:bodyPr>
          <a:lstStyle/>
          <a:p>
            <a:pPr marL="285750" indent="-285750">
              <a:buFont typeface="Arial" panose="020B0604020202020204" pitchFamily="34" charset="0"/>
              <a:buChar char="•"/>
            </a:pPr>
            <a:r>
              <a:rPr lang="en-US" sz="2000" dirty="0"/>
              <a:t>This project successfully analyzed IT support performance using a comprehensive dashboard that captured ticket volume, resolution time, satisfaction levels, and service efficiency. The analysis revealed that although ticket volume has increased over time, the workload is evenly distributed and does not currently justify hiring additional staff.</a:t>
            </a:r>
          </a:p>
          <a:p>
            <a:pPr marL="285750" indent="-285750">
              <a:buFont typeface="Arial" panose="020B0604020202020204" pitchFamily="34" charset="0"/>
              <a:buChar char="•"/>
            </a:pPr>
            <a:r>
              <a:rPr lang="en-US" sz="2000" dirty="0"/>
              <a:t>The major challenges identified were skill gaps among agents and inefficiencies in ticket prioritization and routing. Satisfaction levels were found to be closely linked to resolution time, proving that service quality depends more on training and system efficiency than on workforce size.</a:t>
            </a:r>
          </a:p>
          <a:p>
            <a:pPr marL="285750" indent="-285750">
              <a:buFont typeface="Arial" panose="020B0604020202020204" pitchFamily="34" charset="0"/>
              <a:buChar char="•"/>
            </a:pPr>
            <a:r>
              <a:rPr lang="en-US" sz="2000" dirty="0"/>
              <a:t>The study concludes that </a:t>
            </a:r>
            <a:r>
              <a:rPr lang="en-US" sz="2000" b="1" dirty="0"/>
              <a:t>investing in employee training and upgrading the ticket management system will deliver the highest impact</a:t>
            </a:r>
            <a:r>
              <a:rPr lang="en-US" sz="2000" dirty="0"/>
              <a:t>, leading to improved resolution speed, better SLA compliance, and enhanced customer satisfaction. Hiring additional agents should be considered only as a long-term strategy if ticket volumes increase significantly in the future.</a:t>
            </a:r>
          </a:p>
        </p:txBody>
      </p:sp>
      <p:sp>
        <p:nvSpPr>
          <p:cNvPr id="8" name="TextBox 7">
            <a:extLst>
              <a:ext uri="{FF2B5EF4-FFF2-40B4-BE49-F238E27FC236}">
                <a16:creationId xmlns:a16="http://schemas.microsoft.com/office/drawing/2014/main" id="{61372EB1-709C-EBFC-2470-31A07B873F3F}"/>
              </a:ext>
            </a:extLst>
          </p:cNvPr>
          <p:cNvSpPr txBox="1"/>
          <p:nvPr/>
        </p:nvSpPr>
        <p:spPr>
          <a:xfrm>
            <a:off x="3045542" y="313616"/>
            <a:ext cx="6100916" cy="830997"/>
          </a:xfrm>
          <a:prstGeom prst="rect">
            <a:avLst/>
          </a:prstGeom>
          <a:noFill/>
        </p:spPr>
        <p:txBody>
          <a:bodyPr wrap="square">
            <a:spAutoFit/>
          </a:bodyPr>
          <a:lstStyle/>
          <a:p>
            <a:pPr algn="ctr"/>
            <a:r>
              <a:rPr lang="en-IN" sz="4800" dirty="0"/>
              <a:t>CONCLUSION</a:t>
            </a:r>
          </a:p>
        </p:txBody>
      </p:sp>
    </p:spTree>
    <p:extLst>
      <p:ext uri="{BB962C8B-B14F-4D97-AF65-F5344CB8AC3E}">
        <p14:creationId xmlns:p14="http://schemas.microsoft.com/office/powerpoint/2010/main" val="1649912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65AE64-060D-5DA2-F1C8-F32CD8298C8D}"/>
              </a:ext>
            </a:extLst>
          </p:cNvPr>
          <p:cNvSpPr>
            <a:spLocks noGrp="1"/>
          </p:cNvSpPr>
          <p:nvPr>
            <p:ph type="sldNum" sz="quarter" idx="12"/>
          </p:nvPr>
        </p:nvSpPr>
        <p:spPr/>
        <p:txBody>
          <a:bodyPr/>
          <a:lstStyle/>
          <a:p>
            <a:fld id="{8D0AFDD5-844D-364D-8AEC-50CF4D36D55D}" type="slidenum">
              <a:rPr lang="en-US" smtClean="0"/>
              <a:pPr/>
              <a:t>18</a:t>
            </a:fld>
            <a:endParaRPr lang="en-US" dirty="0"/>
          </a:p>
        </p:txBody>
      </p:sp>
      <p:sp>
        <p:nvSpPr>
          <p:cNvPr id="3" name="Footer Placeholder 2">
            <a:extLst>
              <a:ext uri="{FF2B5EF4-FFF2-40B4-BE49-F238E27FC236}">
                <a16:creationId xmlns:a16="http://schemas.microsoft.com/office/drawing/2014/main" id="{B334037D-4CE3-17DC-7A2A-64E8120A9B43}"/>
              </a:ext>
            </a:extLst>
          </p:cNvPr>
          <p:cNvSpPr>
            <a:spLocks noGrp="1"/>
          </p:cNvSpPr>
          <p:nvPr>
            <p:ph type="ftr" sz="quarter" idx="11"/>
          </p:nvPr>
        </p:nvSpPr>
        <p:spPr/>
        <p:txBody>
          <a:bodyPr/>
          <a:lstStyle/>
          <a:p>
            <a:r>
              <a:rPr lang="en-US" dirty="0"/>
              <a:t>Presentation title</a:t>
            </a:r>
          </a:p>
        </p:txBody>
      </p:sp>
      <p:sp>
        <p:nvSpPr>
          <p:cNvPr id="2" name="Date Placeholder 1">
            <a:extLst>
              <a:ext uri="{FF2B5EF4-FFF2-40B4-BE49-F238E27FC236}">
                <a16:creationId xmlns:a16="http://schemas.microsoft.com/office/drawing/2014/main" id="{6E47F9DE-790E-73FB-5997-D28667522E25}"/>
              </a:ext>
            </a:extLst>
          </p:cNvPr>
          <p:cNvSpPr>
            <a:spLocks noGrp="1"/>
          </p:cNvSpPr>
          <p:nvPr>
            <p:ph type="dt" sz="half" idx="10"/>
          </p:nvPr>
        </p:nvSpPr>
        <p:spPr/>
        <p:txBody>
          <a:bodyPr/>
          <a:lstStyle/>
          <a:p>
            <a:r>
              <a:rPr lang="en-US" dirty="0"/>
              <a:t>20XX</a:t>
            </a:r>
          </a:p>
        </p:txBody>
      </p:sp>
      <p:sp>
        <p:nvSpPr>
          <p:cNvPr id="6" name="AutoShape 2" descr="User uploaded image">
            <a:extLst>
              <a:ext uri="{FF2B5EF4-FFF2-40B4-BE49-F238E27FC236}">
                <a16:creationId xmlns:a16="http://schemas.microsoft.com/office/drawing/2014/main" id="{2CFFE4A1-F3C0-8F52-FA4D-73EA0411A556}"/>
              </a:ext>
            </a:extLst>
          </p:cNvPr>
          <p:cNvSpPr>
            <a:spLocks noChangeAspect="1" noChangeArrowheads="1"/>
          </p:cNvSpPr>
          <p:nvPr/>
        </p:nvSpPr>
        <p:spPr bwMode="auto">
          <a:xfrm>
            <a:off x="5984748" y="8869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descr="User uploaded image">
            <a:extLst>
              <a:ext uri="{FF2B5EF4-FFF2-40B4-BE49-F238E27FC236}">
                <a16:creationId xmlns:a16="http://schemas.microsoft.com/office/drawing/2014/main" id="{400B1AAB-F1D1-647D-95F4-2FC4015C8AA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B345C5E5-5CE2-D550-509A-010D648BDE8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1084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Thank You Statistics PowerPoint Template and Google Slides">
            <a:extLst>
              <a:ext uri="{FF2B5EF4-FFF2-40B4-BE49-F238E27FC236}">
                <a16:creationId xmlns:a16="http://schemas.microsoft.com/office/drawing/2014/main" id="{65CE00B7-8425-77A9-C3C7-1E28CBE7B8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 y="10"/>
            <a:ext cx="12191980" cy="6857990"/>
          </a:xfrm>
          <a:prstGeom prst="rect">
            <a:avLst/>
          </a:prstGeom>
          <a:noFill/>
        </p:spPr>
      </p:pic>
      <p:sp>
        <p:nvSpPr>
          <p:cNvPr id="29" name="Slide Number Placeholder 3" hidden="1">
            <a:extLst>
              <a:ext uri="{FF2B5EF4-FFF2-40B4-BE49-F238E27FC236}">
                <a16:creationId xmlns:a16="http://schemas.microsoft.com/office/drawing/2014/main" id="{4EDE6E60-36BD-AFDC-8596-F0957024E318}"/>
              </a:ext>
            </a:extLst>
          </p:cNvPr>
          <p:cNvSpPr>
            <a:spLocks noGrp="1"/>
          </p:cNvSpPr>
          <p:nvPr>
            <p:ph type="sldNum" sz="quarter" idx="12"/>
          </p:nvPr>
        </p:nvSpPr>
        <p:spPr>
          <a:xfrm>
            <a:off x="838200" y="6400904"/>
            <a:ext cx="365760" cy="246888"/>
          </a:xfrm>
        </p:spPr>
        <p:txBody>
          <a:bodyPr/>
          <a:lstStyle/>
          <a:p>
            <a:pPr>
              <a:spcAft>
                <a:spcPts val="600"/>
              </a:spcAft>
            </a:pPr>
            <a:fld id="{8D0AFDD5-844D-364D-8AEC-50CF4D36D55D}" type="slidenum">
              <a:rPr lang="en-US" noProof="0" smtClean="0"/>
              <a:pPr>
                <a:spcAft>
                  <a:spcPts val="600"/>
                </a:spcAft>
              </a:pPr>
              <a:t>19</a:t>
            </a:fld>
            <a:endParaRPr lang="en-US" noProof="0"/>
          </a:p>
        </p:txBody>
      </p:sp>
      <p:sp>
        <p:nvSpPr>
          <p:cNvPr id="31" name="Footer Placeholder 4">
            <a:extLst>
              <a:ext uri="{FF2B5EF4-FFF2-40B4-BE49-F238E27FC236}">
                <a16:creationId xmlns:a16="http://schemas.microsoft.com/office/drawing/2014/main" id="{49A1FEAA-6B3F-02B5-0153-83D8ABC3A360}"/>
              </a:ext>
            </a:extLst>
          </p:cNvPr>
          <p:cNvSpPr>
            <a:spLocks noGrp="1"/>
          </p:cNvSpPr>
          <p:nvPr>
            <p:ph type="ftr" sz="quarter" idx="11"/>
          </p:nvPr>
        </p:nvSpPr>
        <p:spPr>
          <a:xfrm>
            <a:off x="5364480" y="6400904"/>
            <a:ext cx="1463040" cy="246888"/>
          </a:xfrm>
        </p:spPr>
        <p:txBody>
          <a:bodyPr/>
          <a:lstStyle/>
          <a:p>
            <a:pPr>
              <a:spcAft>
                <a:spcPts val="600"/>
              </a:spcAft>
            </a:pPr>
            <a:r>
              <a:rPr lang="en-US" noProof="0"/>
              <a:t>Presentation title</a:t>
            </a:r>
          </a:p>
        </p:txBody>
      </p:sp>
      <p:sp>
        <p:nvSpPr>
          <p:cNvPr id="26" name="Date Placeholder 5" hidden="1">
            <a:extLst>
              <a:ext uri="{FF2B5EF4-FFF2-40B4-BE49-F238E27FC236}">
                <a16:creationId xmlns:a16="http://schemas.microsoft.com/office/drawing/2014/main" id="{8F93025E-1101-94E8-D710-BB84DE936071}"/>
              </a:ext>
            </a:extLst>
          </p:cNvPr>
          <p:cNvSpPr>
            <a:spLocks noGrp="1"/>
          </p:cNvSpPr>
          <p:nvPr>
            <p:ph type="dt" sz="half" idx="10"/>
          </p:nvPr>
        </p:nvSpPr>
        <p:spPr>
          <a:xfrm>
            <a:off x="10629145" y="6400904"/>
            <a:ext cx="640080" cy="246888"/>
          </a:xfrm>
        </p:spPr>
        <p:txBody>
          <a:bodyPr/>
          <a:lstStyle/>
          <a:p>
            <a:pPr>
              <a:spcAft>
                <a:spcPts val="600"/>
              </a:spcAft>
            </a:pPr>
            <a:r>
              <a:rPr lang="en-US" noProof="0"/>
              <a:t>20XX</a:t>
            </a:r>
          </a:p>
        </p:txBody>
      </p:sp>
    </p:spTree>
    <p:extLst>
      <p:ext uri="{BB962C8B-B14F-4D97-AF65-F5344CB8AC3E}">
        <p14:creationId xmlns:p14="http://schemas.microsoft.com/office/powerpoint/2010/main" val="2397583386"/>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2.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{2E35C0F3-A7CD-4105-B6B9-0E8FED990B27}tf11429527_win32</Template>
  <TotalTime>272</TotalTime>
  <Words>1126</Words>
  <Application>Microsoft Office PowerPoint</Application>
  <PresentationFormat>Widescreen</PresentationFormat>
  <Paragraphs>186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Century Gothic</vt:lpstr>
      <vt:lpstr>Karla</vt:lpstr>
      <vt:lpstr>Univers Condensed Light</vt:lpstr>
      <vt:lpstr>Office Theme</vt:lpstr>
      <vt:lpstr>IT Support Analysis</vt:lpstr>
      <vt:lpstr>Problem Statement</vt:lpstr>
      <vt:lpstr>The IT Ticket Data Information:</vt:lpstr>
      <vt:lpstr>DASHBOARD OVERVIEW</vt:lpstr>
      <vt:lpstr>TICKET TREND OVER TIME</vt:lpstr>
      <vt:lpstr>TICKETS BY CATEGORY</vt:lpstr>
      <vt:lpstr>RESOLUTION TIME ANALYSIS</vt:lpstr>
      <vt:lpstr>SEVERITY VS PRIORITY ANALYSIS</vt:lpstr>
      <vt:lpstr>PowerPoint Presentation</vt:lpstr>
      <vt:lpstr>AGE GROUP VS SATISFACTION</vt:lpstr>
      <vt:lpstr>EMPLOYEE PERFORMANCE ANALYSIS</vt:lpstr>
      <vt:lpstr>RESOLUTION TIME DISTRIBUTION</vt:lpstr>
      <vt:lpstr>PowerPoint Presentation</vt:lpstr>
      <vt:lpstr>PowerPoint Presentation</vt:lpstr>
      <vt:lpstr>RECOMMENDATIONS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Karthikeya Chintha</dc:creator>
  <cp:lastModifiedBy>Karthikeya Chintha</cp:lastModifiedBy>
  <cp:revision>2</cp:revision>
  <dcterms:created xsi:type="dcterms:W3CDTF">2026-01-17T13:24:17Z</dcterms:created>
  <dcterms:modified xsi:type="dcterms:W3CDTF">2026-01-23T07:57:46Z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